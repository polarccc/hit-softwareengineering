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708" r:id="rId2"/>
    <p:sldId id="710" r:id="rId3"/>
    <p:sldId id="711" r:id="rId4"/>
    <p:sldId id="712" r:id="rId5"/>
    <p:sldId id="713" r:id="rId6"/>
    <p:sldId id="714" r:id="rId7"/>
    <p:sldId id="715" r:id="rId8"/>
    <p:sldId id="716" r:id="rId9"/>
    <p:sldId id="717" r:id="rId10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EAF0F6"/>
    <a:srgbClr val="CCECFF"/>
    <a:srgbClr val="777777"/>
    <a:srgbClr val="66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65" autoAdjust="0"/>
    <p:restoredTop sz="92139" autoAdjust="0"/>
  </p:normalViewPr>
  <p:slideViewPr>
    <p:cSldViewPr>
      <p:cViewPr varScale="1">
        <p:scale>
          <a:sx n="61" d="100"/>
          <a:sy n="61" d="100"/>
        </p:scale>
        <p:origin x="1732" y="44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25" d="100"/>
        <a:sy n="125" d="100"/>
      </p:scale>
      <p:origin x="0" y="-6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buFontTx/>
              <a:buNone/>
              <a:defRPr sz="1300"/>
            </a:lvl1pPr>
          </a:lstStyle>
          <a:p>
            <a:pPr>
              <a:defRPr/>
            </a:pPr>
            <a:fld id="{EC28C68B-E62A-4C2D-831A-304DDA1F42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20" rIns="99038" bIns="49520" numCol="1" anchor="t" anchorCtr="0" compatLnSpc="1"/>
          <a:lstStyle>
            <a:lvl1pPr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20" rIns="99038" bIns="49520" numCol="1" anchor="t" anchorCtr="0" compatLnSpc="1"/>
          <a:lstStyle>
            <a:lvl1pPr algn="r"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20" rIns="99038" bIns="495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20" rIns="99038" bIns="49520" numCol="1" anchor="b" anchorCtr="0" compatLnSpc="1"/>
          <a:lstStyle>
            <a:lvl1pPr defTabSz="990600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20" rIns="99038" bIns="49520" numCol="1" anchor="b" anchorCtr="0" compatLnSpc="1"/>
          <a:lstStyle>
            <a:lvl1pPr algn="r" defTabSz="990600" eaLnBrk="1" hangingPunct="1">
              <a:buFontTx/>
              <a:buNone/>
              <a:defRPr sz="1300"/>
            </a:lvl1pPr>
          </a:lstStyle>
          <a:p>
            <a:pPr>
              <a:defRPr/>
            </a:pPr>
            <a:fld id="{4E8A6FDD-0BB8-4544-94BC-4119D65B2D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259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SzPct val="55000"/>
              <a:buFont typeface="Monotype Sorts" charset="0"/>
              <a:buChar char="n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SzPct val="55000"/>
              <a:buFont typeface="Monotype Sorts" charset="0"/>
              <a:buChar char="l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SzPct val="59000"/>
              <a:buFont typeface="Monotype Sorts" charset="0"/>
              <a:buChar char="s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SzPct val="59000"/>
              <a:buFont typeface="Monotype Sorts" charset="0"/>
              <a:buChar char="u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F2E6B6-D27E-4D44-8F56-BB8EEAB9B4D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875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259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SzPct val="55000"/>
              <a:buFont typeface="Monotype Sorts" charset="0"/>
              <a:buChar char="n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SzPct val="55000"/>
              <a:buFont typeface="Monotype Sorts" charset="0"/>
              <a:buChar char="l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SzPct val="59000"/>
              <a:buFont typeface="Monotype Sorts" charset="0"/>
              <a:buChar char="s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SzPct val="59000"/>
              <a:buFont typeface="Monotype Sorts" charset="0"/>
              <a:buChar char="u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F2E6B6-D27E-4D44-8F56-BB8EEAB9B4D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671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8A6FDD-0BB8-4544-94BC-4119D65B2D9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22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8A6FDD-0BB8-4544-94BC-4119D65B2D9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51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/>
          </p:cNvSpPr>
          <p:nvPr userDrawn="1"/>
        </p:nvSpPr>
        <p:spPr bwMode="auto">
          <a:xfrm>
            <a:off x="43344" y="6580584"/>
            <a:ext cx="1905000" cy="27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48E10B9D-D565-4C11-BA88-10AAF73A34CD}" type="datetime5">
              <a:rPr lang="zh-CN" altLang="en-US" sz="1400" smtClean="0">
                <a:solidFill>
                  <a:srgbClr val="CC0000"/>
                </a:solidFill>
                <a:ea typeface="楷体_GB2312" pitchFamily="49" charset="-122"/>
              </a:rPr>
              <a:pPr/>
              <a:t>2024/5/29</a:t>
            </a:fld>
            <a:endParaRPr lang="en-US" altLang="zh-CN" sz="1400" dirty="0" smtClean="0">
              <a:solidFill>
                <a:srgbClr val="CC0000"/>
              </a:solidFill>
              <a:ea typeface="楷体_GB2312" pitchFamily="49" charset="-122"/>
            </a:endParaRPr>
          </a:p>
        </p:txBody>
      </p:sp>
      <p:sp>
        <p:nvSpPr>
          <p:cNvPr id="8" name="页脚占位符 4"/>
          <p:cNvSpPr txBox="1">
            <a:spLocks/>
          </p:cNvSpPr>
          <p:nvPr userDrawn="1"/>
        </p:nvSpPr>
        <p:spPr bwMode="auto">
          <a:xfrm>
            <a:off x="3281960" y="6580584"/>
            <a:ext cx="2895600" cy="27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1400" dirty="0" err="1" smtClean="0">
                <a:solidFill>
                  <a:srgbClr val="0000FF"/>
                </a:solidFill>
              </a:rPr>
              <a:t>哈工大</a:t>
            </a:r>
            <a:r>
              <a:rPr lang="zh-CN" altLang="en-US" sz="1400" dirty="0" smtClean="0">
                <a:solidFill>
                  <a:srgbClr val="0000FF"/>
                </a:solidFill>
              </a:rPr>
              <a:t>计算学部</a:t>
            </a:r>
            <a:r>
              <a:rPr lang="en-US" altLang="zh-CN" sz="1400" dirty="0" smtClean="0">
                <a:solidFill>
                  <a:srgbClr val="0000FF"/>
                </a:solidFill>
              </a:rPr>
              <a:t>/</a:t>
            </a:r>
            <a:r>
              <a:rPr lang="en-US" altLang="zh-CN" sz="1400" dirty="0" err="1" smtClean="0">
                <a:solidFill>
                  <a:srgbClr val="0000FF"/>
                </a:solidFill>
              </a:rPr>
              <a:t>软件学院</a:t>
            </a:r>
            <a:endParaRPr lang="en-US" altLang="zh-CN" sz="1400" dirty="0" smtClean="0">
              <a:solidFill>
                <a:srgbClr val="0000FF"/>
              </a:solidFill>
            </a:endParaRPr>
          </a:p>
        </p:txBody>
      </p:sp>
      <p:sp>
        <p:nvSpPr>
          <p:cNvPr id="9" name="灯片编号占位符 5"/>
          <p:cNvSpPr txBox="1">
            <a:spLocks/>
          </p:cNvSpPr>
          <p:nvPr userDrawn="1"/>
        </p:nvSpPr>
        <p:spPr bwMode="auto">
          <a:xfrm>
            <a:off x="7164668" y="6580584"/>
            <a:ext cx="1905000" cy="27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F8D4963C-975C-41A8-A6C2-40000BC1F093}" type="slidenum">
              <a:rPr lang="en-US" altLang="zh-CN" sz="1400" smtClean="0">
                <a:solidFill>
                  <a:srgbClr val="FFCCCC"/>
                </a:solidFill>
              </a:rPr>
              <a:pPr/>
              <a:t>‹#›</a:t>
            </a:fld>
            <a:endParaRPr lang="en-US" altLang="zh-CN" sz="1400" dirty="0">
              <a:solidFill>
                <a:srgbClr val="FFCCCC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2699792" y="95577"/>
            <a:ext cx="4392488" cy="453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cs typeface="Times New Roman" panose="02020603050405020304" pitchFamily="18" charset="0"/>
              </a:rPr>
              <a:t>  软件项目管理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cs typeface="Times New Roman" panose="02020603050405020304" pitchFamily="18" charset="0"/>
              </a:rPr>
              <a:t>-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cs typeface="Times New Roman" panose="02020603050405020304" pitchFamily="18" charset="0"/>
              </a:rPr>
              <a:t>进度计划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283220" y="475908"/>
            <a:ext cx="341117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3283220" y="499148"/>
            <a:ext cx="3411177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87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19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200212301442778138"/>
          <p:cNvPicPr>
            <a:picLocks noChangeAspect="1" noChangeArrowheads="1"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2400"/>
            <a:ext cx="87376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8"/>
          <p:cNvSpPr>
            <a:spLocks noChangeArrowheads="1"/>
          </p:cNvSpPr>
          <p:nvPr userDrawn="1"/>
        </p:nvSpPr>
        <p:spPr bwMode="auto">
          <a:xfrm>
            <a:off x="1117600" y="5943600"/>
            <a:ext cx="4572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 userDrawn="1"/>
        </p:nvSpPr>
        <p:spPr bwMode="auto">
          <a:xfrm>
            <a:off x="533400" y="765179"/>
            <a:ext cx="8142288" cy="5483225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1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1117600" y="5943600"/>
            <a:ext cx="45720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Rectangle 9"/>
          <p:cNvSpPr>
            <a:spLocks noChangeArrowheads="1"/>
          </p:cNvSpPr>
          <p:nvPr userDrawn="1"/>
        </p:nvSpPr>
        <p:spPr bwMode="auto">
          <a:xfrm>
            <a:off x="5296" y="8026"/>
            <a:ext cx="2376833" cy="452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60000"/>
              </a:lnSpc>
            </a:pPr>
            <a:r>
              <a:rPr lang="en-US" altLang="zh-CN" sz="1800" i="1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《</a:t>
            </a:r>
            <a:r>
              <a:rPr lang="zh-CN" altLang="en-US" sz="1800" i="1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软件过程与项目管理</a:t>
            </a:r>
            <a:r>
              <a:rPr lang="en-US" altLang="zh-CN" sz="1800" i="1" dirty="0" smtClean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》</a:t>
            </a:r>
            <a:endParaRPr lang="en-US" altLang="zh-CN" sz="1800" b="1" i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行楷" panose="02010800040101010101" pitchFamily="2" charset="-122"/>
            </a:endParaRPr>
          </a:p>
        </p:txBody>
      </p:sp>
      <p:sp>
        <p:nvSpPr>
          <p:cNvPr id="20" name="Line 11"/>
          <p:cNvSpPr>
            <a:spLocks noChangeShapeType="1"/>
          </p:cNvSpPr>
          <p:nvPr userDrawn="1"/>
        </p:nvSpPr>
        <p:spPr bwMode="auto">
          <a:xfrm>
            <a:off x="-1150" y="374207"/>
            <a:ext cx="2595702" cy="0"/>
          </a:xfrm>
          <a:prstGeom prst="line">
            <a:avLst/>
          </a:prstGeom>
          <a:noFill/>
          <a:ln w="9525">
            <a:solidFill>
              <a:srgbClr val="A3A3A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2462603" y="93438"/>
            <a:ext cx="0" cy="357814"/>
          </a:xfrm>
          <a:prstGeom prst="line">
            <a:avLst/>
          </a:prstGeom>
          <a:noFill/>
          <a:ln w="9525">
            <a:solidFill>
              <a:srgbClr val="A3A3A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 userDrawn="1"/>
        </p:nvSpPr>
        <p:spPr bwMode="auto">
          <a:xfrm>
            <a:off x="-1150" y="403082"/>
            <a:ext cx="2595702" cy="0"/>
          </a:xfrm>
          <a:prstGeom prst="line">
            <a:avLst/>
          </a:prstGeom>
          <a:noFill/>
          <a:ln w="9525">
            <a:solidFill>
              <a:srgbClr val="A3A3A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Line 12"/>
          <p:cNvSpPr>
            <a:spLocks noChangeShapeType="1"/>
          </p:cNvSpPr>
          <p:nvPr userDrawn="1"/>
        </p:nvSpPr>
        <p:spPr bwMode="auto">
          <a:xfrm>
            <a:off x="2496111" y="94707"/>
            <a:ext cx="0" cy="357814"/>
          </a:xfrm>
          <a:prstGeom prst="line">
            <a:avLst/>
          </a:prstGeom>
          <a:noFill/>
          <a:ln w="9525">
            <a:solidFill>
              <a:srgbClr val="A3A3A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kern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Book Antiqua" panose="02040602050305030304" pitchFamily="18" charset="0"/>
          <a:ea typeface="楷体_GB2312" pitchFamily="49" charset="-122"/>
          <a:cs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Book Antiqua" panose="02040602050305030304" pitchFamily="18" charset="0"/>
          <a:ea typeface="楷体_GB2312" pitchFamily="49" charset="-122"/>
          <a:cs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Book Antiqua" panose="02040602050305030304" pitchFamily="18" charset="0"/>
          <a:ea typeface="楷体_GB2312" pitchFamily="49" charset="-122"/>
          <a:cs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Book Antiqua" panose="02040602050305030304" pitchFamily="18" charset="0"/>
          <a:ea typeface="楷体_GB2312" pitchFamily="49" charset="-122"/>
          <a:cs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91281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Line 76"/>
          <p:cNvSpPr>
            <a:spLocks noChangeShapeType="1"/>
          </p:cNvSpPr>
          <p:nvPr/>
        </p:nvSpPr>
        <p:spPr bwMode="auto">
          <a:xfrm>
            <a:off x="7747699" y="2825057"/>
            <a:ext cx="640725" cy="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>
            <a:off x="4147042" y="1827104"/>
            <a:ext cx="640726" cy="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" name="Line 76"/>
          <p:cNvSpPr>
            <a:spLocks noChangeShapeType="1"/>
          </p:cNvSpPr>
          <p:nvPr/>
        </p:nvSpPr>
        <p:spPr bwMode="auto">
          <a:xfrm flipV="1">
            <a:off x="700104" y="1958617"/>
            <a:ext cx="482131" cy="89206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Line 76"/>
          <p:cNvSpPr>
            <a:spLocks noChangeShapeType="1"/>
          </p:cNvSpPr>
          <p:nvPr/>
        </p:nvSpPr>
        <p:spPr bwMode="auto">
          <a:xfrm>
            <a:off x="2410134" y="1831621"/>
            <a:ext cx="640726" cy="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>
            <a:off x="6018680" y="1899806"/>
            <a:ext cx="609927" cy="87378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2" name="Line 76"/>
          <p:cNvSpPr>
            <a:spLocks noChangeShapeType="1"/>
          </p:cNvSpPr>
          <p:nvPr/>
        </p:nvSpPr>
        <p:spPr bwMode="auto">
          <a:xfrm>
            <a:off x="7750862" y="2761145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" name="Line 76"/>
          <p:cNvSpPr>
            <a:spLocks noChangeShapeType="1"/>
          </p:cNvSpPr>
          <p:nvPr/>
        </p:nvSpPr>
        <p:spPr bwMode="auto">
          <a:xfrm>
            <a:off x="4159478" y="3491386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0" name="Line 76"/>
          <p:cNvSpPr>
            <a:spLocks noChangeShapeType="1"/>
          </p:cNvSpPr>
          <p:nvPr/>
        </p:nvSpPr>
        <p:spPr bwMode="auto">
          <a:xfrm>
            <a:off x="4150205" y="1763192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Line 76"/>
          <p:cNvSpPr>
            <a:spLocks noChangeShapeType="1"/>
          </p:cNvSpPr>
          <p:nvPr/>
        </p:nvSpPr>
        <p:spPr bwMode="auto">
          <a:xfrm flipV="1">
            <a:off x="703267" y="1825881"/>
            <a:ext cx="482131" cy="89206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9" name="Line 76"/>
          <p:cNvSpPr>
            <a:spLocks noChangeShapeType="1"/>
          </p:cNvSpPr>
          <p:nvPr/>
        </p:nvSpPr>
        <p:spPr bwMode="auto">
          <a:xfrm>
            <a:off x="703266" y="2808433"/>
            <a:ext cx="483609" cy="68467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" name="Line 76"/>
          <p:cNvSpPr>
            <a:spLocks noChangeShapeType="1"/>
          </p:cNvSpPr>
          <p:nvPr/>
        </p:nvSpPr>
        <p:spPr bwMode="auto">
          <a:xfrm>
            <a:off x="2413297" y="1767709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" name="Line 76"/>
          <p:cNvSpPr>
            <a:spLocks noChangeShapeType="1"/>
          </p:cNvSpPr>
          <p:nvPr/>
        </p:nvSpPr>
        <p:spPr bwMode="auto">
          <a:xfrm>
            <a:off x="2413298" y="3493104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2" name="Line 76"/>
          <p:cNvSpPr>
            <a:spLocks noChangeShapeType="1"/>
          </p:cNvSpPr>
          <p:nvPr/>
        </p:nvSpPr>
        <p:spPr bwMode="auto">
          <a:xfrm>
            <a:off x="2390839" y="3547849"/>
            <a:ext cx="635156" cy="158027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" name="Line 76"/>
          <p:cNvSpPr>
            <a:spLocks noChangeShapeType="1"/>
          </p:cNvSpPr>
          <p:nvPr/>
        </p:nvSpPr>
        <p:spPr bwMode="auto">
          <a:xfrm flipV="1">
            <a:off x="4252540" y="3699812"/>
            <a:ext cx="528286" cy="15315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" name="Line 76"/>
          <p:cNvSpPr>
            <a:spLocks noChangeShapeType="1"/>
          </p:cNvSpPr>
          <p:nvPr/>
        </p:nvSpPr>
        <p:spPr bwMode="auto">
          <a:xfrm>
            <a:off x="6021843" y="1767070"/>
            <a:ext cx="609927" cy="8737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" name="Line 76"/>
          <p:cNvSpPr>
            <a:spLocks noChangeShapeType="1"/>
          </p:cNvSpPr>
          <p:nvPr/>
        </p:nvSpPr>
        <p:spPr bwMode="auto">
          <a:xfrm flipV="1">
            <a:off x="5996959" y="2828472"/>
            <a:ext cx="641381" cy="722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6631771" y="2131974"/>
            <a:ext cx="1264256" cy="1283069"/>
            <a:chOff x="6715548" y="4666211"/>
            <a:chExt cx="1264256" cy="1283069"/>
          </a:xfrm>
        </p:grpSpPr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96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</p:grpSp>
      <p:sp>
        <p:nvSpPr>
          <p:cNvPr id="97" name="流程图: 可选过程 96"/>
          <p:cNvSpPr/>
          <p:nvPr/>
        </p:nvSpPr>
        <p:spPr>
          <a:xfrm>
            <a:off x="88278" y="2572871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开始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8" name="流程图: 可选过程 97"/>
          <p:cNvSpPr/>
          <p:nvPr/>
        </p:nvSpPr>
        <p:spPr>
          <a:xfrm>
            <a:off x="8387827" y="2572871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9" name="Text Box 84"/>
          <p:cNvSpPr txBox="1">
            <a:spLocks noChangeArrowheads="1"/>
          </p:cNvSpPr>
          <p:nvPr/>
        </p:nvSpPr>
        <p:spPr bwMode="auto">
          <a:xfrm>
            <a:off x="7446719" y="229149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Text Box 84"/>
          <p:cNvSpPr txBox="1">
            <a:spLocks noChangeArrowheads="1"/>
          </p:cNvSpPr>
          <p:nvPr/>
        </p:nvSpPr>
        <p:spPr bwMode="auto">
          <a:xfrm>
            <a:off x="6663357" y="300774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Text Box 84"/>
          <p:cNvSpPr txBox="1">
            <a:spLocks noChangeArrowheads="1"/>
          </p:cNvSpPr>
          <p:nvPr/>
        </p:nvSpPr>
        <p:spPr bwMode="auto">
          <a:xfrm>
            <a:off x="7449696" y="300774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Text Box 84"/>
          <p:cNvSpPr txBox="1">
            <a:spLocks noChangeArrowheads="1"/>
          </p:cNvSpPr>
          <p:nvPr/>
        </p:nvSpPr>
        <p:spPr bwMode="auto">
          <a:xfrm>
            <a:off x="6658411" y="229530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1187447" y="1198265"/>
            <a:ext cx="1264256" cy="1283069"/>
            <a:chOff x="6715548" y="4666211"/>
            <a:chExt cx="1264256" cy="1283069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12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A</a:t>
              </a:r>
            </a:p>
          </p:txBody>
        </p:sp>
      </p:grpSp>
      <p:sp>
        <p:nvSpPr>
          <p:cNvPr id="113" name="Text Box 84"/>
          <p:cNvSpPr txBox="1">
            <a:spLocks noChangeArrowheads="1"/>
          </p:cNvSpPr>
          <p:nvPr/>
        </p:nvSpPr>
        <p:spPr bwMode="auto">
          <a:xfrm>
            <a:off x="2002395" y="135778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Text Box 84"/>
          <p:cNvSpPr txBox="1">
            <a:spLocks noChangeArrowheads="1"/>
          </p:cNvSpPr>
          <p:nvPr/>
        </p:nvSpPr>
        <p:spPr bwMode="auto">
          <a:xfrm>
            <a:off x="1219033" y="207403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5" name="Text Box 84"/>
          <p:cNvSpPr txBox="1">
            <a:spLocks noChangeArrowheads="1"/>
          </p:cNvSpPr>
          <p:nvPr/>
        </p:nvSpPr>
        <p:spPr bwMode="auto">
          <a:xfrm>
            <a:off x="2005372" y="207403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Text Box 84"/>
          <p:cNvSpPr txBox="1">
            <a:spLocks noChangeArrowheads="1"/>
          </p:cNvSpPr>
          <p:nvPr/>
        </p:nvSpPr>
        <p:spPr bwMode="auto">
          <a:xfrm>
            <a:off x="1214087" y="13615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3030941" y="1198265"/>
            <a:ext cx="1264256" cy="1283069"/>
            <a:chOff x="6715548" y="4666211"/>
            <a:chExt cx="1264256" cy="1283069"/>
          </a:xfrm>
        </p:grpSpPr>
        <p:pic>
          <p:nvPicPr>
            <p:cNvPr id="118" name="图片 11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19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Duration=6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sp>
        <p:nvSpPr>
          <p:cNvPr id="120" name="Text Box 84"/>
          <p:cNvSpPr txBox="1">
            <a:spLocks noChangeArrowheads="1"/>
          </p:cNvSpPr>
          <p:nvPr/>
        </p:nvSpPr>
        <p:spPr bwMode="auto">
          <a:xfrm>
            <a:off x="3845889" y="135778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Text Box 84"/>
          <p:cNvSpPr txBox="1">
            <a:spLocks noChangeArrowheads="1"/>
          </p:cNvSpPr>
          <p:nvPr/>
        </p:nvSpPr>
        <p:spPr bwMode="auto">
          <a:xfrm>
            <a:off x="3062527" y="207403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Text Box 84"/>
          <p:cNvSpPr txBox="1">
            <a:spLocks noChangeArrowheads="1"/>
          </p:cNvSpPr>
          <p:nvPr/>
        </p:nvSpPr>
        <p:spPr bwMode="auto">
          <a:xfrm>
            <a:off x="3848866" y="207403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Text Box 84"/>
          <p:cNvSpPr txBox="1">
            <a:spLocks noChangeArrowheads="1"/>
          </p:cNvSpPr>
          <p:nvPr/>
        </p:nvSpPr>
        <p:spPr bwMode="auto">
          <a:xfrm>
            <a:off x="3057581" y="13615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4786997" y="1196752"/>
            <a:ext cx="1264256" cy="1283069"/>
            <a:chOff x="6715548" y="4666211"/>
            <a:chExt cx="1264256" cy="1283069"/>
          </a:xfrm>
        </p:grpSpPr>
        <p:pic>
          <p:nvPicPr>
            <p:cNvPr id="125" name="图片 124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26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G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7" name="Text Box 84"/>
          <p:cNvSpPr txBox="1">
            <a:spLocks noChangeArrowheads="1"/>
          </p:cNvSpPr>
          <p:nvPr/>
        </p:nvSpPr>
        <p:spPr bwMode="auto">
          <a:xfrm>
            <a:off x="5601945" y="135627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" name="Text Box 84"/>
          <p:cNvSpPr txBox="1">
            <a:spLocks noChangeArrowheads="1"/>
          </p:cNvSpPr>
          <p:nvPr/>
        </p:nvSpPr>
        <p:spPr bwMode="auto">
          <a:xfrm>
            <a:off x="4818583" y="207251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Text Box 84"/>
          <p:cNvSpPr txBox="1">
            <a:spLocks noChangeArrowheads="1"/>
          </p:cNvSpPr>
          <p:nvPr/>
        </p:nvSpPr>
        <p:spPr bwMode="auto">
          <a:xfrm>
            <a:off x="5604922" y="207251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0" name="Text Box 84"/>
          <p:cNvSpPr txBox="1">
            <a:spLocks noChangeArrowheads="1"/>
          </p:cNvSpPr>
          <p:nvPr/>
        </p:nvSpPr>
        <p:spPr bwMode="auto">
          <a:xfrm>
            <a:off x="4813637" y="136008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1" name="组合 130"/>
          <p:cNvGrpSpPr/>
          <p:nvPr/>
        </p:nvGrpSpPr>
        <p:grpSpPr>
          <a:xfrm>
            <a:off x="3030941" y="4559620"/>
            <a:ext cx="1264256" cy="1283069"/>
            <a:chOff x="6715548" y="4666211"/>
            <a:chExt cx="1264256" cy="1283069"/>
          </a:xfrm>
        </p:grpSpPr>
        <p:pic>
          <p:nvPicPr>
            <p:cNvPr id="132" name="图片 13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33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sp>
        <p:nvSpPr>
          <p:cNvPr id="134" name="Text Box 84"/>
          <p:cNvSpPr txBox="1">
            <a:spLocks noChangeArrowheads="1"/>
          </p:cNvSpPr>
          <p:nvPr/>
        </p:nvSpPr>
        <p:spPr bwMode="auto">
          <a:xfrm>
            <a:off x="3845889" y="471914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Text Box 84"/>
          <p:cNvSpPr txBox="1">
            <a:spLocks noChangeArrowheads="1"/>
          </p:cNvSpPr>
          <p:nvPr/>
        </p:nvSpPr>
        <p:spPr bwMode="auto">
          <a:xfrm>
            <a:off x="3062527" y="543538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Text Box 84"/>
          <p:cNvSpPr txBox="1">
            <a:spLocks noChangeArrowheads="1"/>
          </p:cNvSpPr>
          <p:nvPr/>
        </p:nvSpPr>
        <p:spPr bwMode="auto">
          <a:xfrm>
            <a:off x="3848866" y="543538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Text Box 84"/>
          <p:cNvSpPr txBox="1">
            <a:spLocks noChangeArrowheads="1"/>
          </p:cNvSpPr>
          <p:nvPr/>
        </p:nvSpPr>
        <p:spPr bwMode="auto">
          <a:xfrm>
            <a:off x="3057581" y="472295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1191051" y="2886869"/>
            <a:ext cx="1264256" cy="1283069"/>
            <a:chOff x="6715548" y="4666211"/>
            <a:chExt cx="1264256" cy="1283069"/>
          </a:xfrm>
        </p:grpSpPr>
        <p:pic>
          <p:nvPicPr>
            <p:cNvPr id="139" name="图片 138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40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B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" name="Text Box 84"/>
          <p:cNvSpPr txBox="1">
            <a:spLocks noChangeArrowheads="1"/>
          </p:cNvSpPr>
          <p:nvPr/>
        </p:nvSpPr>
        <p:spPr bwMode="auto">
          <a:xfrm>
            <a:off x="2005999" y="30463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Text Box 84"/>
          <p:cNvSpPr txBox="1">
            <a:spLocks noChangeArrowheads="1"/>
          </p:cNvSpPr>
          <p:nvPr/>
        </p:nvSpPr>
        <p:spPr bwMode="auto">
          <a:xfrm>
            <a:off x="1222637" y="37626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Text Box 84"/>
          <p:cNvSpPr txBox="1">
            <a:spLocks noChangeArrowheads="1"/>
          </p:cNvSpPr>
          <p:nvPr/>
        </p:nvSpPr>
        <p:spPr bwMode="auto">
          <a:xfrm>
            <a:off x="2008976" y="37626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Text Box 84"/>
          <p:cNvSpPr txBox="1">
            <a:spLocks noChangeArrowheads="1"/>
          </p:cNvSpPr>
          <p:nvPr/>
        </p:nvSpPr>
        <p:spPr bwMode="auto">
          <a:xfrm>
            <a:off x="1217691" y="305020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5" name="组合 144"/>
          <p:cNvGrpSpPr/>
          <p:nvPr/>
        </p:nvGrpSpPr>
        <p:grpSpPr>
          <a:xfrm>
            <a:off x="3034545" y="2886869"/>
            <a:ext cx="1264256" cy="1283069"/>
            <a:chOff x="6715548" y="4666211"/>
            <a:chExt cx="1264256" cy="1283069"/>
          </a:xfrm>
        </p:grpSpPr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47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sp>
        <p:nvSpPr>
          <p:cNvPr id="148" name="Text Box 84"/>
          <p:cNvSpPr txBox="1">
            <a:spLocks noChangeArrowheads="1"/>
          </p:cNvSpPr>
          <p:nvPr/>
        </p:nvSpPr>
        <p:spPr bwMode="auto">
          <a:xfrm>
            <a:off x="3849493" y="30463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Text Box 84"/>
          <p:cNvSpPr txBox="1">
            <a:spLocks noChangeArrowheads="1"/>
          </p:cNvSpPr>
          <p:nvPr/>
        </p:nvSpPr>
        <p:spPr bwMode="auto">
          <a:xfrm>
            <a:off x="3066131" y="37626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Text Box 84"/>
          <p:cNvSpPr txBox="1">
            <a:spLocks noChangeArrowheads="1"/>
          </p:cNvSpPr>
          <p:nvPr/>
        </p:nvSpPr>
        <p:spPr bwMode="auto">
          <a:xfrm>
            <a:off x="3852470" y="37626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Text Box 84"/>
          <p:cNvSpPr txBox="1">
            <a:spLocks noChangeArrowheads="1"/>
          </p:cNvSpPr>
          <p:nvPr/>
        </p:nvSpPr>
        <p:spPr bwMode="auto">
          <a:xfrm>
            <a:off x="3061185" y="305020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4790601" y="2885356"/>
            <a:ext cx="1264256" cy="1283069"/>
            <a:chOff x="6715548" y="4666211"/>
            <a:chExt cx="1264256" cy="1283069"/>
          </a:xfrm>
        </p:grpSpPr>
        <p:pic>
          <p:nvPicPr>
            <p:cNvPr id="153" name="图片 152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54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</p:grp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5605549" y="304487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Text Box 84"/>
          <p:cNvSpPr txBox="1">
            <a:spLocks noChangeArrowheads="1"/>
          </p:cNvSpPr>
          <p:nvPr/>
        </p:nvSpPr>
        <p:spPr bwMode="auto">
          <a:xfrm>
            <a:off x="4822187" y="376112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Text Box 84"/>
          <p:cNvSpPr txBox="1">
            <a:spLocks noChangeArrowheads="1"/>
          </p:cNvSpPr>
          <p:nvPr/>
        </p:nvSpPr>
        <p:spPr bwMode="auto">
          <a:xfrm>
            <a:off x="5608526" y="376112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Text Box 84"/>
          <p:cNvSpPr txBox="1">
            <a:spLocks noChangeArrowheads="1"/>
          </p:cNvSpPr>
          <p:nvPr/>
        </p:nvSpPr>
        <p:spPr bwMode="auto">
          <a:xfrm>
            <a:off x="4817241" y="30486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关键路径历时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估算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法 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— 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正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推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法实例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E7E92992-64BF-4321-91C0-C673F3D904E0}"/>
              </a:ext>
            </a:extLst>
          </p:cNvPr>
          <p:cNvSpPr txBox="1">
            <a:spLocks noChangeArrowheads="1"/>
          </p:cNvSpPr>
          <p:nvPr/>
        </p:nvSpPr>
        <p:spPr>
          <a:xfrm>
            <a:off x="181491" y="4662847"/>
            <a:ext cx="2213879" cy="571324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anchor="ctr" anchorCtr="0">
            <a:noAutofit/>
          </a:bodyPr>
          <a:lstStyle>
            <a:lvl1pPr marL="228600" indent="-22860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013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262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kumimoji="1"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假定开始时间为</a:t>
            </a:r>
            <a:r>
              <a:rPr kumimoji="1"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E7E92992-64BF-4321-91C0-C673F3D904E0}"/>
              </a:ext>
            </a:extLst>
          </p:cNvPr>
          <p:cNvSpPr txBox="1">
            <a:spLocks noChangeArrowheads="1"/>
          </p:cNvSpPr>
          <p:nvPr/>
        </p:nvSpPr>
        <p:spPr>
          <a:xfrm>
            <a:off x="5234952" y="4791162"/>
            <a:ext cx="3801544" cy="173418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anchor="ctr" anchorCtr="0">
            <a:noAutofit/>
          </a:bodyPr>
          <a:lstStyle>
            <a:lvl1pPr marL="228600" indent="-22860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013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262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可以确定关键路径：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 = A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历时时间 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19 - 1 = 18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7021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0" grpId="0" animBg="1"/>
      <p:bldP spid="81" grpId="0" animBg="1"/>
      <p:bldP spid="99" grpId="0"/>
      <p:bldP spid="102" grpId="0"/>
      <p:bldP spid="113" grpId="0"/>
      <p:bldP spid="116" grpId="0"/>
      <p:bldP spid="120" grpId="0"/>
      <p:bldP spid="123" grpId="0"/>
      <p:bldP spid="127" grpId="0"/>
      <p:bldP spid="130" grpId="0"/>
      <p:bldP spid="134" grpId="0"/>
      <p:bldP spid="137" grpId="0"/>
      <p:bldP spid="141" grpId="0"/>
      <p:bldP spid="144" grpId="0"/>
      <p:bldP spid="148" grpId="0"/>
      <p:bldP spid="151" grpId="0"/>
      <p:bldP spid="155" grpId="0"/>
      <p:bldP spid="158" grpId="0"/>
      <p:bldP spid="7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107" name="Text Box 3162">
            <a:extLst>
              <a:ext uri="{FF2B5EF4-FFF2-40B4-BE49-F238E27FC236}">
                <a16:creationId xmlns:a16="http://schemas.microsoft.com/office/drawing/2014/main" id="{E77CC9A4-8CCB-4E9F-B235-5A29E01BE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5991671"/>
            <a:ext cx="8686800" cy="461665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1pPr>
            <a:lvl2pPr marL="742950" indent="-285750" algn="l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2pPr>
            <a:lvl3pPr marL="1143000" indent="-228600" algn="l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3pPr>
            <a:lvl4pPr marL="1600200" indent="-228600" algn="l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4pPr>
            <a:lvl5pPr marL="2057400" indent="-228600" algn="l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5pPr>
            <a:lvl6pPr marL="2514600" indent="-228600" fontAlgn="base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6pPr>
            <a:lvl7pPr marL="2971800" indent="-228600" fontAlgn="base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7pPr>
            <a:lvl8pPr marL="3429000" indent="-228600" fontAlgn="base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8pPr>
            <a:lvl9pPr marL="3886200" indent="-228600" fontAlgn="base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DD8047"/>
              </a:buClr>
              <a:buSzPct val="60000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为什么选择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LF(H)=19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Line 76"/>
          <p:cNvSpPr>
            <a:spLocks noChangeShapeType="1"/>
          </p:cNvSpPr>
          <p:nvPr/>
        </p:nvSpPr>
        <p:spPr bwMode="auto">
          <a:xfrm>
            <a:off x="7740374" y="2765248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Line 76"/>
          <p:cNvSpPr>
            <a:spLocks noChangeShapeType="1"/>
          </p:cNvSpPr>
          <p:nvPr/>
        </p:nvSpPr>
        <p:spPr bwMode="auto">
          <a:xfrm>
            <a:off x="4148990" y="3495489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Line 76"/>
          <p:cNvSpPr>
            <a:spLocks noChangeShapeType="1"/>
          </p:cNvSpPr>
          <p:nvPr/>
        </p:nvSpPr>
        <p:spPr bwMode="auto">
          <a:xfrm>
            <a:off x="4139717" y="1767295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Line 76"/>
          <p:cNvSpPr>
            <a:spLocks noChangeShapeType="1"/>
          </p:cNvSpPr>
          <p:nvPr/>
        </p:nvSpPr>
        <p:spPr bwMode="auto">
          <a:xfrm flipV="1">
            <a:off x="692779" y="1829984"/>
            <a:ext cx="482131" cy="89206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Line 76"/>
          <p:cNvSpPr>
            <a:spLocks noChangeShapeType="1"/>
          </p:cNvSpPr>
          <p:nvPr/>
        </p:nvSpPr>
        <p:spPr bwMode="auto">
          <a:xfrm>
            <a:off x="692778" y="2812536"/>
            <a:ext cx="483609" cy="68467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Line 76"/>
          <p:cNvSpPr>
            <a:spLocks noChangeShapeType="1"/>
          </p:cNvSpPr>
          <p:nvPr/>
        </p:nvSpPr>
        <p:spPr bwMode="auto">
          <a:xfrm>
            <a:off x="2402809" y="1771812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Line 76"/>
          <p:cNvSpPr>
            <a:spLocks noChangeShapeType="1"/>
          </p:cNvSpPr>
          <p:nvPr/>
        </p:nvSpPr>
        <p:spPr bwMode="auto">
          <a:xfrm>
            <a:off x="2402810" y="3497207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76"/>
          <p:cNvSpPr>
            <a:spLocks noChangeShapeType="1"/>
          </p:cNvSpPr>
          <p:nvPr/>
        </p:nvSpPr>
        <p:spPr bwMode="auto">
          <a:xfrm>
            <a:off x="2380351" y="3551952"/>
            <a:ext cx="635156" cy="158027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Line 76"/>
          <p:cNvSpPr>
            <a:spLocks noChangeShapeType="1"/>
          </p:cNvSpPr>
          <p:nvPr/>
        </p:nvSpPr>
        <p:spPr bwMode="auto">
          <a:xfrm flipV="1">
            <a:off x="4250180" y="3708995"/>
            <a:ext cx="528286" cy="15315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76"/>
          <p:cNvSpPr>
            <a:spLocks noChangeShapeType="1"/>
          </p:cNvSpPr>
          <p:nvPr/>
        </p:nvSpPr>
        <p:spPr bwMode="auto">
          <a:xfrm>
            <a:off x="6011355" y="1771173"/>
            <a:ext cx="609927" cy="8737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76"/>
          <p:cNvSpPr>
            <a:spLocks noChangeShapeType="1"/>
          </p:cNvSpPr>
          <p:nvPr/>
        </p:nvSpPr>
        <p:spPr bwMode="auto">
          <a:xfrm flipV="1">
            <a:off x="5986471" y="2832575"/>
            <a:ext cx="641381" cy="722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621283" y="2136077"/>
            <a:ext cx="1264256" cy="1283069"/>
            <a:chOff x="6715548" y="4666211"/>
            <a:chExt cx="1264256" cy="1283069"/>
          </a:xfrm>
        </p:grpSpPr>
        <p:pic>
          <p:nvPicPr>
            <p:cNvPr id="106" name="图片 10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07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</p:grpSp>
      <p:sp>
        <p:nvSpPr>
          <p:cNvPr id="108" name="流程图: 可选过程 107"/>
          <p:cNvSpPr/>
          <p:nvPr/>
        </p:nvSpPr>
        <p:spPr>
          <a:xfrm>
            <a:off x="77790" y="2576974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开始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9" name="流程图: 可选过程 108"/>
          <p:cNvSpPr/>
          <p:nvPr/>
        </p:nvSpPr>
        <p:spPr>
          <a:xfrm>
            <a:off x="8377339" y="2576974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0" name="Text Box 84"/>
          <p:cNvSpPr txBox="1">
            <a:spLocks noChangeArrowheads="1"/>
          </p:cNvSpPr>
          <p:nvPr/>
        </p:nvSpPr>
        <p:spPr bwMode="auto">
          <a:xfrm>
            <a:off x="7436231" y="229560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Text Box 84"/>
          <p:cNvSpPr txBox="1">
            <a:spLocks noChangeArrowheads="1"/>
          </p:cNvSpPr>
          <p:nvPr/>
        </p:nvSpPr>
        <p:spPr bwMode="auto">
          <a:xfrm>
            <a:off x="6652869" y="301184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Text Box 84"/>
          <p:cNvSpPr txBox="1">
            <a:spLocks noChangeArrowheads="1"/>
          </p:cNvSpPr>
          <p:nvPr/>
        </p:nvSpPr>
        <p:spPr bwMode="auto">
          <a:xfrm>
            <a:off x="7439208" y="301184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Text Box 84"/>
          <p:cNvSpPr txBox="1">
            <a:spLocks noChangeArrowheads="1"/>
          </p:cNvSpPr>
          <p:nvPr/>
        </p:nvSpPr>
        <p:spPr bwMode="auto">
          <a:xfrm>
            <a:off x="6647923" y="229941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1176959" y="1202368"/>
            <a:ext cx="1264256" cy="1283069"/>
            <a:chOff x="6715548" y="4666211"/>
            <a:chExt cx="1264256" cy="1283069"/>
          </a:xfrm>
        </p:grpSpPr>
        <p:pic>
          <p:nvPicPr>
            <p:cNvPr id="115" name="图片 11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16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A</a:t>
              </a:r>
            </a:p>
          </p:txBody>
        </p:sp>
      </p:grp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991907" y="136189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Text Box 84"/>
          <p:cNvSpPr txBox="1">
            <a:spLocks noChangeArrowheads="1"/>
          </p:cNvSpPr>
          <p:nvPr/>
        </p:nvSpPr>
        <p:spPr bwMode="auto">
          <a:xfrm>
            <a:off x="1208545" y="20781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9" name="Text Box 84"/>
          <p:cNvSpPr txBox="1">
            <a:spLocks noChangeArrowheads="1"/>
          </p:cNvSpPr>
          <p:nvPr/>
        </p:nvSpPr>
        <p:spPr bwMode="auto">
          <a:xfrm>
            <a:off x="1994884" y="20781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Text Box 84"/>
          <p:cNvSpPr txBox="1">
            <a:spLocks noChangeArrowheads="1"/>
          </p:cNvSpPr>
          <p:nvPr/>
        </p:nvSpPr>
        <p:spPr bwMode="auto">
          <a:xfrm>
            <a:off x="1203599" y="136570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21" name="组合 120"/>
          <p:cNvGrpSpPr/>
          <p:nvPr/>
        </p:nvGrpSpPr>
        <p:grpSpPr>
          <a:xfrm>
            <a:off x="3020453" y="1202368"/>
            <a:ext cx="1264256" cy="1283069"/>
            <a:chOff x="6715548" y="4666211"/>
            <a:chExt cx="1264256" cy="1283069"/>
          </a:xfrm>
        </p:grpSpPr>
        <p:pic>
          <p:nvPicPr>
            <p:cNvPr id="122" name="图片 12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23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Duration=6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sp>
        <p:nvSpPr>
          <p:cNvPr id="124" name="Text Box 84"/>
          <p:cNvSpPr txBox="1">
            <a:spLocks noChangeArrowheads="1"/>
          </p:cNvSpPr>
          <p:nvPr/>
        </p:nvSpPr>
        <p:spPr bwMode="auto">
          <a:xfrm>
            <a:off x="3835401" y="136189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Text Box 84"/>
          <p:cNvSpPr txBox="1">
            <a:spLocks noChangeArrowheads="1"/>
          </p:cNvSpPr>
          <p:nvPr/>
        </p:nvSpPr>
        <p:spPr bwMode="auto">
          <a:xfrm>
            <a:off x="3052039" y="20781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Text Box 84"/>
          <p:cNvSpPr txBox="1">
            <a:spLocks noChangeArrowheads="1"/>
          </p:cNvSpPr>
          <p:nvPr/>
        </p:nvSpPr>
        <p:spPr bwMode="auto">
          <a:xfrm>
            <a:off x="3838378" y="20781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Text Box 84"/>
          <p:cNvSpPr txBox="1">
            <a:spLocks noChangeArrowheads="1"/>
          </p:cNvSpPr>
          <p:nvPr/>
        </p:nvSpPr>
        <p:spPr bwMode="auto">
          <a:xfrm>
            <a:off x="3047093" y="136570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4776509" y="1200855"/>
            <a:ext cx="1264256" cy="1283069"/>
            <a:chOff x="6715548" y="4666211"/>
            <a:chExt cx="1264256" cy="1283069"/>
          </a:xfrm>
        </p:grpSpPr>
        <p:pic>
          <p:nvPicPr>
            <p:cNvPr id="129" name="图片 12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30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G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1" name="Text Box 84"/>
          <p:cNvSpPr txBox="1">
            <a:spLocks noChangeArrowheads="1"/>
          </p:cNvSpPr>
          <p:nvPr/>
        </p:nvSpPr>
        <p:spPr bwMode="auto">
          <a:xfrm>
            <a:off x="5591457" y="136037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Text Box 84"/>
          <p:cNvSpPr txBox="1">
            <a:spLocks noChangeArrowheads="1"/>
          </p:cNvSpPr>
          <p:nvPr/>
        </p:nvSpPr>
        <p:spPr bwMode="auto">
          <a:xfrm>
            <a:off x="4808095" y="207662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Text Box 84"/>
          <p:cNvSpPr txBox="1">
            <a:spLocks noChangeArrowheads="1"/>
          </p:cNvSpPr>
          <p:nvPr/>
        </p:nvSpPr>
        <p:spPr bwMode="auto">
          <a:xfrm>
            <a:off x="5594434" y="207662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Text Box 84"/>
          <p:cNvSpPr txBox="1">
            <a:spLocks noChangeArrowheads="1"/>
          </p:cNvSpPr>
          <p:nvPr/>
        </p:nvSpPr>
        <p:spPr bwMode="auto">
          <a:xfrm>
            <a:off x="4803149" y="136418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3020453" y="4563723"/>
            <a:ext cx="1264256" cy="1283069"/>
            <a:chOff x="6715548" y="4666211"/>
            <a:chExt cx="1264256" cy="1283069"/>
          </a:xfrm>
        </p:grpSpPr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37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sp>
        <p:nvSpPr>
          <p:cNvPr id="138" name="Text Box 84"/>
          <p:cNvSpPr txBox="1">
            <a:spLocks noChangeArrowheads="1"/>
          </p:cNvSpPr>
          <p:nvPr/>
        </p:nvSpPr>
        <p:spPr bwMode="auto">
          <a:xfrm>
            <a:off x="3835401" y="472324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Text Box 84"/>
          <p:cNvSpPr txBox="1">
            <a:spLocks noChangeArrowheads="1"/>
          </p:cNvSpPr>
          <p:nvPr/>
        </p:nvSpPr>
        <p:spPr bwMode="auto">
          <a:xfrm>
            <a:off x="3052039" y="54394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Text Box 84"/>
          <p:cNvSpPr txBox="1">
            <a:spLocks noChangeArrowheads="1"/>
          </p:cNvSpPr>
          <p:nvPr/>
        </p:nvSpPr>
        <p:spPr bwMode="auto">
          <a:xfrm>
            <a:off x="3838378" y="54394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Text Box 84"/>
          <p:cNvSpPr txBox="1">
            <a:spLocks noChangeArrowheads="1"/>
          </p:cNvSpPr>
          <p:nvPr/>
        </p:nvSpPr>
        <p:spPr bwMode="auto">
          <a:xfrm>
            <a:off x="3047093" y="472705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1180563" y="2890972"/>
            <a:ext cx="1264256" cy="1283069"/>
            <a:chOff x="6715548" y="4666211"/>
            <a:chExt cx="1264256" cy="1283069"/>
          </a:xfrm>
        </p:grpSpPr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44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B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5" name="Text Box 84"/>
          <p:cNvSpPr txBox="1">
            <a:spLocks noChangeArrowheads="1"/>
          </p:cNvSpPr>
          <p:nvPr/>
        </p:nvSpPr>
        <p:spPr bwMode="auto">
          <a:xfrm>
            <a:off x="1995511" y="305049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6" name="Text Box 84"/>
          <p:cNvSpPr txBox="1">
            <a:spLocks noChangeArrowheads="1"/>
          </p:cNvSpPr>
          <p:nvPr/>
        </p:nvSpPr>
        <p:spPr bwMode="auto">
          <a:xfrm>
            <a:off x="1212149" y="37667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Text Box 84"/>
          <p:cNvSpPr txBox="1">
            <a:spLocks noChangeArrowheads="1"/>
          </p:cNvSpPr>
          <p:nvPr/>
        </p:nvSpPr>
        <p:spPr bwMode="auto">
          <a:xfrm>
            <a:off x="1998488" y="37667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Text Box 84"/>
          <p:cNvSpPr txBox="1">
            <a:spLocks noChangeArrowheads="1"/>
          </p:cNvSpPr>
          <p:nvPr/>
        </p:nvSpPr>
        <p:spPr bwMode="auto">
          <a:xfrm>
            <a:off x="1207203" y="305430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9" name="组合 148"/>
          <p:cNvGrpSpPr/>
          <p:nvPr/>
        </p:nvGrpSpPr>
        <p:grpSpPr>
          <a:xfrm>
            <a:off x="3024057" y="2890972"/>
            <a:ext cx="1264256" cy="1283069"/>
            <a:chOff x="6715548" y="4666211"/>
            <a:chExt cx="1264256" cy="1283069"/>
          </a:xfrm>
        </p:grpSpPr>
        <p:pic>
          <p:nvPicPr>
            <p:cNvPr id="150" name="图片 149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51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sp>
        <p:nvSpPr>
          <p:cNvPr id="152" name="Text Box 84"/>
          <p:cNvSpPr txBox="1">
            <a:spLocks noChangeArrowheads="1"/>
          </p:cNvSpPr>
          <p:nvPr/>
        </p:nvSpPr>
        <p:spPr bwMode="auto">
          <a:xfrm>
            <a:off x="3839005" y="305049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Text Box 84"/>
          <p:cNvSpPr txBox="1">
            <a:spLocks noChangeArrowheads="1"/>
          </p:cNvSpPr>
          <p:nvPr/>
        </p:nvSpPr>
        <p:spPr bwMode="auto">
          <a:xfrm>
            <a:off x="3055643" y="37667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Text Box 84"/>
          <p:cNvSpPr txBox="1">
            <a:spLocks noChangeArrowheads="1"/>
          </p:cNvSpPr>
          <p:nvPr/>
        </p:nvSpPr>
        <p:spPr bwMode="auto">
          <a:xfrm>
            <a:off x="3841982" y="37667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3050697" y="305430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4780113" y="2889459"/>
            <a:ext cx="1264256" cy="1283069"/>
            <a:chOff x="6715548" y="4666211"/>
            <a:chExt cx="1264256" cy="1283069"/>
          </a:xfrm>
        </p:grpSpPr>
        <p:pic>
          <p:nvPicPr>
            <p:cNvPr id="157" name="图片 15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58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</p:grpSp>
      <p:sp>
        <p:nvSpPr>
          <p:cNvPr id="159" name="Text Box 84"/>
          <p:cNvSpPr txBox="1">
            <a:spLocks noChangeArrowheads="1"/>
          </p:cNvSpPr>
          <p:nvPr/>
        </p:nvSpPr>
        <p:spPr bwMode="auto">
          <a:xfrm>
            <a:off x="5595061" y="304898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Text Box 84"/>
          <p:cNvSpPr txBox="1">
            <a:spLocks noChangeArrowheads="1"/>
          </p:cNvSpPr>
          <p:nvPr/>
        </p:nvSpPr>
        <p:spPr bwMode="auto">
          <a:xfrm>
            <a:off x="4811699" y="376522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Text Box 84"/>
          <p:cNvSpPr txBox="1">
            <a:spLocks noChangeArrowheads="1"/>
          </p:cNvSpPr>
          <p:nvPr/>
        </p:nvSpPr>
        <p:spPr bwMode="auto">
          <a:xfrm>
            <a:off x="5598038" y="376522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Text Box 84"/>
          <p:cNvSpPr txBox="1">
            <a:spLocks noChangeArrowheads="1"/>
          </p:cNvSpPr>
          <p:nvPr/>
        </p:nvSpPr>
        <p:spPr bwMode="auto">
          <a:xfrm>
            <a:off x="4806753" y="30527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关键路径历时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估算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法 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— 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逆推法实例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47412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>
            <a:off x="7747699" y="2825057"/>
            <a:ext cx="640725" cy="1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Line 76"/>
          <p:cNvSpPr>
            <a:spLocks noChangeShapeType="1"/>
          </p:cNvSpPr>
          <p:nvPr/>
        </p:nvSpPr>
        <p:spPr bwMode="auto">
          <a:xfrm>
            <a:off x="4147042" y="1827104"/>
            <a:ext cx="640726" cy="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Line 76"/>
          <p:cNvSpPr>
            <a:spLocks noChangeShapeType="1"/>
          </p:cNvSpPr>
          <p:nvPr/>
        </p:nvSpPr>
        <p:spPr bwMode="auto">
          <a:xfrm flipV="1">
            <a:off x="700104" y="1958617"/>
            <a:ext cx="482131" cy="892064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Line 76"/>
          <p:cNvSpPr>
            <a:spLocks noChangeShapeType="1"/>
          </p:cNvSpPr>
          <p:nvPr/>
        </p:nvSpPr>
        <p:spPr bwMode="auto">
          <a:xfrm>
            <a:off x="2410134" y="1831621"/>
            <a:ext cx="640726" cy="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Line 76"/>
          <p:cNvSpPr>
            <a:spLocks noChangeShapeType="1"/>
          </p:cNvSpPr>
          <p:nvPr/>
        </p:nvSpPr>
        <p:spPr bwMode="auto">
          <a:xfrm>
            <a:off x="6018680" y="1899806"/>
            <a:ext cx="609927" cy="873786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Line 76"/>
          <p:cNvSpPr>
            <a:spLocks noChangeShapeType="1"/>
          </p:cNvSpPr>
          <p:nvPr/>
        </p:nvSpPr>
        <p:spPr bwMode="auto">
          <a:xfrm>
            <a:off x="7738342" y="2775408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" name="Line 76"/>
          <p:cNvSpPr>
            <a:spLocks noChangeShapeType="1"/>
          </p:cNvSpPr>
          <p:nvPr/>
        </p:nvSpPr>
        <p:spPr bwMode="auto">
          <a:xfrm>
            <a:off x="4148990" y="3505649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Line 76"/>
          <p:cNvSpPr>
            <a:spLocks noChangeShapeType="1"/>
          </p:cNvSpPr>
          <p:nvPr/>
        </p:nvSpPr>
        <p:spPr bwMode="auto">
          <a:xfrm>
            <a:off x="4154957" y="1777455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" name="Line 76"/>
          <p:cNvSpPr>
            <a:spLocks noChangeShapeType="1"/>
          </p:cNvSpPr>
          <p:nvPr/>
        </p:nvSpPr>
        <p:spPr bwMode="auto">
          <a:xfrm flipV="1">
            <a:off x="692779" y="1840144"/>
            <a:ext cx="482131" cy="89206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Line 76"/>
          <p:cNvSpPr>
            <a:spLocks noChangeShapeType="1"/>
          </p:cNvSpPr>
          <p:nvPr/>
        </p:nvSpPr>
        <p:spPr bwMode="auto">
          <a:xfrm>
            <a:off x="692778" y="2822696"/>
            <a:ext cx="483609" cy="68467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Line 76"/>
          <p:cNvSpPr>
            <a:spLocks noChangeShapeType="1"/>
          </p:cNvSpPr>
          <p:nvPr/>
        </p:nvSpPr>
        <p:spPr bwMode="auto">
          <a:xfrm>
            <a:off x="2402809" y="1781972"/>
            <a:ext cx="640726" cy="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Line 76"/>
          <p:cNvSpPr>
            <a:spLocks noChangeShapeType="1"/>
          </p:cNvSpPr>
          <p:nvPr/>
        </p:nvSpPr>
        <p:spPr bwMode="auto">
          <a:xfrm>
            <a:off x="2402810" y="3507367"/>
            <a:ext cx="640725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76"/>
          <p:cNvSpPr>
            <a:spLocks noChangeShapeType="1"/>
          </p:cNvSpPr>
          <p:nvPr/>
        </p:nvSpPr>
        <p:spPr bwMode="auto">
          <a:xfrm>
            <a:off x="2380351" y="3562112"/>
            <a:ext cx="635156" cy="158027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Line 76"/>
          <p:cNvSpPr>
            <a:spLocks noChangeShapeType="1"/>
          </p:cNvSpPr>
          <p:nvPr/>
        </p:nvSpPr>
        <p:spPr bwMode="auto">
          <a:xfrm flipV="1">
            <a:off x="4247132" y="3719155"/>
            <a:ext cx="528286" cy="15315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76"/>
          <p:cNvSpPr>
            <a:spLocks noChangeShapeType="1"/>
          </p:cNvSpPr>
          <p:nvPr/>
        </p:nvSpPr>
        <p:spPr bwMode="auto">
          <a:xfrm>
            <a:off x="6016435" y="1786413"/>
            <a:ext cx="609927" cy="8737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76"/>
          <p:cNvSpPr>
            <a:spLocks noChangeShapeType="1"/>
          </p:cNvSpPr>
          <p:nvPr/>
        </p:nvSpPr>
        <p:spPr bwMode="auto">
          <a:xfrm flipV="1">
            <a:off x="5986471" y="2842735"/>
            <a:ext cx="641381" cy="7229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6621283" y="2146237"/>
            <a:ext cx="1264256" cy="1283069"/>
            <a:chOff x="6715548" y="4666211"/>
            <a:chExt cx="1264256" cy="1283069"/>
          </a:xfrm>
        </p:grpSpPr>
        <p:pic>
          <p:nvPicPr>
            <p:cNvPr id="106" name="图片 10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07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</p:grpSp>
      <p:sp>
        <p:nvSpPr>
          <p:cNvPr id="108" name="流程图: 可选过程 107"/>
          <p:cNvSpPr/>
          <p:nvPr/>
        </p:nvSpPr>
        <p:spPr>
          <a:xfrm>
            <a:off x="77790" y="2587134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开始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9" name="流程图: 可选过程 108"/>
          <p:cNvSpPr/>
          <p:nvPr/>
        </p:nvSpPr>
        <p:spPr>
          <a:xfrm>
            <a:off x="8377339" y="2587134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0" name="Text Box 84"/>
          <p:cNvSpPr txBox="1">
            <a:spLocks noChangeArrowheads="1"/>
          </p:cNvSpPr>
          <p:nvPr/>
        </p:nvSpPr>
        <p:spPr bwMode="auto">
          <a:xfrm>
            <a:off x="7436231" y="230576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Text Box 84"/>
          <p:cNvSpPr txBox="1">
            <a:spLocks noChangeArrowheads="1"/>
          </p:cNvSpPr>
          <p:nvPr/>
        </p:nvSpPr>
        <p:spPr bwMode="auto">
          <a:xfrm>
            <a:off x="6652869" y="302200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Text Box 84"/>
          <p:cNvSpPr txBox="1">
            <a:spLocks noChangeArrowheads="1"/>
          </p:cNvSpPr>
          <p:nvPr/>
        </p:nvSpPr>
        <p:spPr bwMode="auto">
          <a:xfrm>
            <a:off x="7439208" y="302200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Text Box 84"/>
          <p:cNvSpPr txBox="1">
            <a:spLocks noChangeArrowheads="1"/>
          </p:cNvSpPr>
          <p:nvPr/>
        </p:nvSpPr>
        <p:spPr bwMode="auto">
          <a:xfrm>
            <a:off x="6647923" y="230957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1176959" y="1212528"/>
            <a:ext cx="1264256" cy="1283069"/>
            <a:chOff x="6715548" y="4666211"/>
            <a:chExt cx="1264256" cy="1283069"/>
          </a:xfrm>
        </p:grpSpPr>
        <p:pic>
          <p:nvPicPr>
            <p:cNvPr id="115" name="图片 11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16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A</a:t>
              </a:r>
            </a:p>
          </p:txBody>
        </p:sp>
      </p:grpSp>
      <p:sp>
        <p:nvSpPr>
          <p:cNvPr id="117" name="Text Box 84"/>
          <p:cNvSpPr txBox="1">
            <a:spLocks noChangeArrowheads="1"/>
          </p:cNvSpPr>
          <p:nvPr/>
        </p:nvSpPr>
        <p:spPr bwMode="auto">
          <a:xfrm>
            <a:off x="1991907" y="137205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Text Box 84"/>
          <p:cNvSpPr txBox="1">
            <a:spLocks noChangeArrowheads="1"/>
          </p:cNvSpPr>
          <p:nvPr/>
        </p:nvSpPr>
        <p:spPr bwMode="auto">
          <a:xfrm>
            <a:off x="1208545" y="20882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9" name="Text Box 84"/>
          <p:cNvSpPr txBox="1">
            <a:spLocks noChangeArrowheads="1"/>
          </p:cNvSpPr>
          <p:nvPr/>
        </p:nvSpPr>
        <p:spPr bwMode="auto">
          <a:xfrm>
            <a:off x="1994884" y="20882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Text Box 84"/>
          <p:cNvSpPr txBox="1">
            <a:spLocks noChangeArrowheads="1"/>
          </p:cNvSpPr>
          <p:nvPr/>
        </p:nvSpPr>
        <p:spPr bwMode="auto">
          <a:xfrm>
            <a:off x="1203599" y="137586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21" name="组合 120"/>
          <p:cNvGrpSpPr/>
          <p:nvPr/>
        </p:nvGrpSpPr>
        <p:grpSpPr>
          <a:xfrm>
            <a:off x="3020453" y="1212528"/>
            <a:ext cx="1264256" cy="1283069"/>
            <a:chOff x="6715548" y="4666211"/>
            <a:chExt cx="1264256" cy="1283069"/>
          </a:xfrm>
        </p:grpSpPr>
        <p:pic>
          <p:nvPicPr>
            <p:cNvPr id="122" name="图片 12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23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Duration=6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sp>
        <p:nvSpPr>
          <p:cNvPr id="124" name="Text Box 84"/>
          <p:cNvSpPr txBox="1">
            <a:spLocks noChangeArrowheads="1"/>
          </p:cNvSpPr>
          <p:nvPr/>
        </p:nvSpPr>
        <p:spPr bwMode="auto">
          <a:xfrm>
            <a:off x="3835401" y="137205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Text Box 84"/>
          <p:cNvSpPr txBox="1">
            <a:spLocks noChangeArrowheads="1"/>
          </p:cNvSpPr>
          <p:nvPr/>
        </p:nvSpPr>
        <p:spPr bwMode="auto">
          <a:xfrm>
            <a:off x="3052039" y="20882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Text Box 84"/>
          <p:cNvSpPr txBox="1">
            <a:spLocks noChangeArrowheads="1"/>
          </p:cNvSpPr>
          <p:nvPr/>
        </p:nvSpPr>
        <p:spPr bwMode="auto">
          <a:xfrm>
            <a:off x="3838378" y="20882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Text Box 84"/>
          <p:cNvSpPr txBox="1">
            <a:spLocks noChangeArrowheads="1"/>
          </p:cNvSpPr>
          <p:nvPr/>
        </p:nvSpPr>
        <p:spPr bwMode="auto">
          <a:xfrm>
            <a:off x="3047093" y="137586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4776509" y="1211015"/>
            <a:ext cx="1264256" cy="1283069"/>
            <a:chOff x="6715548" y="4666211"/>
            <a:chExt cx="1264256" cy="1283069"/>
          </a:xfrm>
        </p:grpSpPr>
        <p:pic>
          <p:nvPicPr>
            <p:cNvPr id="129" name="图片 12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30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G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1" name="Text Box 84"/>
          <p:cNvSpPr txBox="1">
            <a:spLocks noChangeArrowheads="1"/>
          </p:cNvSpPr>
          <p:nvPr/>
        </p:nvSpPr>
        <p:spPr bwMode="auto">
          <a:xfrm>
            <a:off x="5591457" y="13705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Text Box 84"/>
          <p:cNvSpPr txBox="1">
            <a:spLocks noChangeArrowheads="1"/>
          </p:cNvSpPr>
          <p:nvPr/>
        </p:nvSpPr>
        <p:spPr bwMode="auto">
          <a:xfrm>
            <a:off x="4808095" y="20867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Text Box 84"/>
          <p:cNvSpPr txBox="1">
            <a:spLocks noChangeArrowheads="1"/>
          </p:cNvSpPr>
          <p:nvPr/>
        </p:nvSpPr>
        <p:spPr bwMode="auto">
          <a:xfrm>
            <a:off x="5594434" y="20867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Text Box 84"/>
          <p:cNvSpPr txBox="1">
            <a:spLocks noChangeArrowheads="1"/>
          </p:cNvSpPr>
          <p:nvPr/>
        </p:nvSpPr>
        <p:spPr bwMode="auto">
          <a:xfrm>
            <a:off x="4803149" y="137434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3020453" y="4573883"/>
            <a:ext cx="1264256" cy="1283069"/>
            <a:chOff x="6715548" y="4666211"/>
            <a:chExt cx="1264256" cy="1283069"/>
          </a:xfrm>
        </p:grpSpPr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37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sp>
        <p:nvSpPr>
          <p:cNvPr id="138" name="Text Box 84"/>
          <p:cNvSpPr txBox="1">
            <a:spLocks noChangeArrowheads="1"/>
          </p:cNvSpPr>
          <p:nvPr/>
        </p:nvSpPr>
        <p:spPr bwMode="auto">
          <a:xfrm>
            <a:off x="3835401" y="473340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Text Box 84"/>
          <p:cNvSpPr txBox="1">
            <a:spLocks noChangeArrowheads="1"/>
          </p:cNvSpPr>
          <p:nvPr/>
        </p:nvSpPr>
        <p:spPr bwMode="auto">
          <a:xfrm>
            <a:off x="3052039" y="544964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Text Box 84"/>
          <p:cNvSpPr txBox="1">
            <a:spLocks noChangeArrowheads="1"/>
          </p:cNvSpPr>
          <p:nvPr/>
        </p:nvSpPr>
        <p:spPr bwMode="auto">
          <a:xfrm>
            <a:off x="3838378" y="544964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Text Box 84"/>
          <p:cNvSpPr txBox="1">
            <a:spLocks noChangeArrowheads="1"/>
          </p:cNvSpPr>
          <p:nvPr/>
        </p:nvSpPr>
        <p:spPr bwMode="auto">
          <a:xfrm>
            <a:off x="3047093" y="473721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1180563" y="2901132"/>
            <a:ext cx="1264256" cy="1283069"/>
            <a:chOff x="6715548" y="4666211"/>
            <a:chExt cx="1264256" cy="1283069"/>
          </a:xfrm>
        </p:grpSpPr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44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B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5" name="Text Box 84"/>
          <p:cNvSpPr txBox="1">
            <a:spLocks noChangeArrowheads="1"/>
          </p:cNvSpPr>
          <p:nvPr/>
        </p:nvSpPr>
        <p:spPr bwMode="auto">
          <a:xfrm>
            <a:off x="1995511" y="306065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6" name="Text Box 84"/>
          <p:cNvSpPr txBox="1">
            <a:spLocks noChangeArrowheads="1"/>
          </p:cNvSpPr>
          <p:nvPr/>
        </p:nvSpPr>
        <p:spPr bwMode="auto">
          <a:xfrm>
            <a:off x="1212149" y="37768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Text Box 84"/>
          <p:cNvSpPr txBox="1">
            <a:spLocks noChangeArrowheads="1"/>
          </p:cNvSpPr>
          <p:nvPr/>
        </p:nvSpPr>
        <p:spPr bwMode="auto">
          <a:xfrm>
            <a:off x="1998488" y="37768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Text Box 84"/>
          <p:cNvSpPr txBox="1">
            <a:spLocks noChangeArrowheads="1"/>
          </p:cNvSpPr>
          <p:nvPr/>
        </p:nvSpPr>
        <p:spPr bwMode="auto">
          <a:xfrm>
            <a:off x="1207203" y="306446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9" name="组合 148"/>
          <p:cNvGrpSpPr/>
          <p:nvPr/>
        </p:nvGrpSpPr>
        <p:grpSpPr>
          <a:xfrm>
            <a:off x="3024057" y="2901132"/>
            <a:ext cx="1264256" cy="1283069"/>
            <a:chOff x="6715548" y="4666211"/>
            <a:chExt cx="1264256" cy="1283069"/>
          </a:xfrm>
        </p:grpSpPr>
        <p:pic>
          <p:nvPicPr>
            <p:cNvPr id="150" name="图片 149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51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sp>
        <p:nvSpPr>
          <p:cNvPr id="152" name="Text Box 84"/>
          <p:cNvSpPr txBox="1">
            <a:spLocks noChangeArrowheads="1"/>
          </p:cNvSpPr>
          <p:nvPr/>
        </p:nvSpPr>
        <p:spPr bwMode="auto">
          <a:xfrm>
            <a:off x="3839005" y="306065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Text Box 84"/>
          <p:cNvSpPr txBox="1">
            <a:spLocks noChangeArrowheads="1"/>
          </p:cNvSpPr>
          <p:nvPr/>
        </p:nvSpPr>
        <p:spPr bwMode="auto">
          <a:xfrm>
            <a:off x="3055643" y="37768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Text Box 84"/>
          <p:cNvSpPr txBox="1">
            <a:spLocks noChangeArrowheads="1"/>
          </p:cNvSpPr>
          <p:nvPr/>
        </p:nvSpPr>
        <p:spPr bwMode="auto">
          <a:xfrm>
            <a:off x="3841982" y="377689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3050697" y="306446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4780113" y="2899619"/>
            <a:ext cx="1264256" cy="1283069"/>
            <a:chOff x="6715548" y="4666211"/>
            <a:chExt cx="1264256" cy="1283069"/>
          </a:xfrm>
        </p:grpSpPr>
        <p:pic>
          <p:nvPicPr>
            <p:cNvPr id="157" name="图片 156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58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Duration=3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</p:grpSp>
      <p:sp>
        <p:nvSpPr>
          <p:cNvPr id="159" name="Text Box 84"/>
          <p:cNvSpPr txBox="1">
            <a:spLocks noChangeArrowheads="1"/>
          </p:cNvSpPr>
          <p:nvPr/>
        </p:nvSpPr>
        <p:spPr bwMode="auto">
          <a:xfrm>
            <a:off x="5595061" y="305914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Text Box 84"/>
          <p:cNvSpPr txBox="1">
            <a:spLocks noChangeArrowheads="1"/>
          </p:cNvSpPr>
          <p:nvPr/>
        </p:nvSpPr>
        <p:spPr bwMode="auto">
          <a:xfrm>
            <a:off x="4811699" y="377538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Text Box 84"/>
          <p:cNvSpPr txBox="1">
            <a:spLocks noChangeArrowheads="1"/>
          </p:cNvSpPr>
          <p:nvPr/>
        </p:nvSpPr>
        <p:spPr bwMode="auto">
          <a:xfrm>
            <a:off x="5598038" y="377538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Text Box 84"/>
          <p:cNvSpPr txBox="1">
            <a:spLocks noChangeArrowheads="1"/>
          </p:cNvSpPr>
          <p:nvPr/>
        </p:nvSpPr>
        <p:spPr bwMode="auto">
          <a:xfrm>
            <a:off x="4806753" y="306295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E7E92992-64BF-4321-91C0-C673F3D904E0}"/>
              </a:ext>
            </a:extLst>
          </p:cNvPr>
          <p:cNvSpPr txBox="1">
            <a:spLocks noChangeArrowheads="1"/>
          </p:cNvSpPr>
          <p:nvPr/>
        </p:nvSpPr>
        <p:spPr>
          <a:xfrm>
            <a:off x="5234952" y="4409847"/>
            <a:ext cx="3801544" cy="117939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anchor="ctr" anchorCtr="0">
            <a:noAutofit/>
          </a:bodyPr>
          <a:lstStyle>
            <a:lvl1pPr marL="228600" indent="-22860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013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262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可以确定关键路径：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 = A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历时时间 </a:t>
            </a:r>
            <a:r>
              <a:rPr lang="en-US" altLang="zh-CN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19 - 1 = 18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7E92992-64BF-4321-91C0-C673F3D904E0}"/>
              </a:ext>
            </a:extLst>
          </p:cNvPr>
          <p:cNvSpPr txBox="1">
            <a:spLocks noChangeArrowheads="1"/>
          </p:cNvSpPr>
          <p:nvPr/>
        </p:nvSpPr>
        <p:spPr>
          <a:xfrm>
            <a:off x="144248" y="5913179"/>
            <a:ext cx="8748231" cy="730637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anchor="ctr" anchorCtr="0">
            <a:noAutofit/>
          </a:bodyPr>
          <a:lstStyle>
            <a:lvl1pPr marL="228600" indent="-22860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013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262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None/>
              <a:defRPr/>
            </a:pP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有了正推和逆推结果后，判定关键路径更加方便，即路径上所有节点的浮动时间都为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，或者说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|ES-LS|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|EF-LF|=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最小恒定值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关键路径历时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估算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法 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— 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逆推法实例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5688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  <p:bldP spid="84" grpId="0" animBg="1"/>
      <p:bldP spid="85" grpId="0" animBg="1"/>
      <p:bldP spid="111" grpId="0"/>
      <p:bldP spid="118" grpId="0"/>
      <p:bldP spid="119" grpId="0"/>
      <p:bldP spid="125" grpId="0"/>
      <p:bldP spid="126" grpId="0"/>
      <p:bldP spid="132" grpId="0"/>
      <p:bldP spid="133" grpId="0"/>
      <p:bldP spid="139" grpId="0"/>
      <p:bldP spid="140" grpId="0"/>
      <p:bldP spid="146" grpId="0"/>
      <p:bldP spid="147" grpId="0"/>
      <p:bldP spid="153" grpId="0"/>
      <p:bldP spid="154" grpId="0"/>
      <p:bldP spid="160" grpId="0"/>
      <p:bldP spid="161" grpId="0"/>
      <p:bldP spid="87" grpId="0" animBg="1"/>
      <p:bldP spid="8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课堂练习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E92992-64BF-4321-91C0-C673F3D904E0}"/>
              </a:ext>
            </a:extLst>
          </p:cNvPr>
          <p:cNvSpPr txBox="1">
            <a:spLocks noChangeArrowheads="1"/>
          </p:cNvSpPr>
          <p:nvPr/>
        </p:nvSpPr>
        <p:spPr>
          <a:xfrm>
            <a:off x="683569" y="1460054"/>
            <a:ext cx="7848871" cy="448922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anchor="ctr" anchorCtr="0">
            <a:noAutofit/>
          </a:bodyPr>
          <a:lstStyle>
            <a:lvl1pPr marL="228600" indent="-22860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013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82625" indent="-223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463" indent="-342900" algn="just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作为项目经理，你需要给一个软件项目做计划</a:t>
            </a: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安排</a:t>
            </a:r>
            <a:endParaRPr kumimoji="1"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525463" indent="-342900" algn="just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经过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任务分解后得到任务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A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B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C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D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E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F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，</a:t>
            </a:r>
            <a:r>
              <a:rPr kumimoji="1"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G</a:t>
            </a:r>
          </a:p>
          <a:p>
            <a:pPr marL="525463" indent="-342900" algn="just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假设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各个任务之间没有滞后和超前，下图是这个项目的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PDM</a:t>
            </a: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网络图</a:t>
            </a:r>
            <a:endParaRPr kumimoji="1"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525463" indent="-342900" algn="just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通过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历时估计已经估算出每个任务的工期，现已标识在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PDM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网络图</a:t>
            </a: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上</a:t>
            </a:r>
            <a:endParaRPr kumimoji="1"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525463" indent="-342900" algn="just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假设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项目的最早开工日期是第０天，请计算每个任务的最早开始时间，最晚开始时间，最早完成时间，最晚完成时间，同时确定关键路径，并计算关键路径的长度，计算任务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F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的自由浮动和总</a:t>
            </a:r>
            <a:r>
              <a:rPr kumimoji="1"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浮动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2182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018" name="Text Box 82"/>
          <p:cNvSpPr txBox="1">
            <a:spLocks noChangeArrowheads="1"/>
          </p:cNvSpPr>
          <p:nvPr/>
        </p:nvSpPr>
        <p:spPr bwMode="auto">
          <a:xfrm>
            <a:off x="303687" y="5611575"/>
            <a:ext cx="8229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确定所有任务的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EF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LF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确定关键路径以及关键路径的长度？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确定Ｆ的自由浮动和总浮动？</a:t>
            </a:r>
          </a:p>
        </p:txBody>
      </p:sp>
      <p:sp>
        <p:nvSpPr>
          <p:cNvPr id="188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课堂练习</a:t>
            </a:r>
            <a:endParaRPr kumimoji="1"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grpSp>
        <p:nvGrpSpPr>
          <p:cNvPr id="161" name="Group 5"/>
          <p:cNvGrpSpPr>
            <a:grpSpLocks/>
          </p:cNvGrpSpPr>
          <p:nvPr/>
        </p:nvGrpSpPr>
        <p:grpSpPr bwMode="auto">
          <a:xfrm>
            <a:off x="7762430" y="2326481"/>
            <a:ext cx="1250666" cy="1658938"/>
            <a:chOff x="2160" y="1652"/>
            <a:chExt cx="1530" cy="1724"/>
          </a:xfrm>
        </p:grpSpPr>
        <p:sp>
          <p:nvSpPr>
            <p:cNvPr id="162" name="Text Box 6"/>
            <p:cNvSpPr txBox="1">
              <a:spLocks noChangeArrowheads="1"/>
            </p:cNvSpPr>
            <p:nvPr/>
          </p:nvSpPr>
          <p:spPr bwMode="auto">
            <a:xfrm>
              <a:off x="3194" y="3031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63" name="Text Box 7"/>
            <p:cNvSpPr txBox="1">
              <a:spLocks noChangeArrowheads="1"/>
            </p:cNvSpPr>
            <p:nvPr/>
          </p:nvSpPr>
          <p:spPr bwMode="auto">
            <a:xfrm>
              <a:off x="2203" y="3061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64" name="Text Box 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65" name="Text Box 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66" name="Rectangle 1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G</a:t>
              </a:r>
            </a:p>
          </p:txBody>
        </p:sp>
        <p:sp>
          <p:nvSpPr>
            <p:cNvPr id="167" name="Rectangle 11"/>
            <p:cNvSpPr>
              <a:spLocks noChangeArrowheads="1"/>
            </p:cNvSpPr>
            <p:nvPr/>
          </p:nvSpPr>
          <p:spPr bwMode="auto">
            <a:xfrm>
              <a:off x="2166" y="195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8" name="Rectangle 12"/>
            <p:cNvSpPr>
              <a:spLocks noChangeArrowheads="1"/>
            </p:cNvSpPr>
            <p:nvPr/>
          </p:nvSpPr>
          <p:spPr bwMode="auto">
            <a:xfrm>
              <a:off x="3130" y="1957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9" name="Rectangle 13"/>
            <p:cNvSpPr>
              <a:spLocks noChangeArrowheads="1"/>
            </p:cNvSpPr>
            <p:nvPr/>
          </p:nvSpPr>
          <p:spPr bwMode="auto">
            <a:xfrm>
              <a:off x="216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0" name="Rectangle 14"/>
            <p:cNvSpPr>
              <a:spLocks noChangeArrowheads="1"/>
            </p:cNvSpPr>
            <p:nvPr/>
          </p:nvSpPr>
          <p:spPr bwMode="auto">
            <a:xfrm>
              <a:off x="3134" y="2697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1" name="Group 15"/>
          <p:cNvGrpSpPr>
            <a:grpSpLocks/>
          </p:cNvGrpSpPr>
          <p:nvPr/>
        </p:nvGrpSpPr>
        <p:grpSpPr bwMode="auto">
          <a:xfrm>
            <a:off x="107504" y="2440781"/>
            <a:ext cx="1260475" cy="1547813"/>
            <a:chOff x="2160" y="1689"/>
            <a:chExt cx="1542" cy="1610"/>
          </a:xfrm>
        </p:grpSpPr>
        <p:sp>
          <p:nvSpPr>
            <p:cNvPr id="172" name="Text Box 16"/>
            <p:cNvSpPr txBox="1">
              <a:spLocks noChangeArrowheads="1"/>
            </p:cNvSpPr>
            <p:nvPr/>
          </p:nvSpPr>
          <p:spPr bwMode="auto">
            <a:xfrm>
              <a:off x="3253" y="3053"/>
              <a:ext cx="449" cy="2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73" name="Text Box 17"/>
            <p:cNvSpPr txBox="1">
              <a:spLocks noChangeArrowheads="1"/>
            </p:cNvSpPr>
            <p:nvPr/>
          </p:nvSpPr>
          <p:spPr bwMode="auto">
            <a:xfrm>
              <a:off x="2218" y="3049"/>
              <a:ext cx="466" cy="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74" name="Text Box 18"/>
            <p:cNvSpPr txBox="1">
              <a:spLocks noChangeArrowheads="1"/>
            </p:cNvSpPr>
            <p:nvPr/>
          </p:nvSpPr>
          <p:spPr bwMode="auto">
            <a:xfrm>
              <a:off x="3194" y="1689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75" name="Text Box 19"/>
            <p:cNvSpPr txBox="1">
              <a:spLocks noChangeArrowheads="1"/>
            </p:cNvSpPr>
            <p:nvPr/>
          </p:nvSpPr>
          <p:spPr bwMode="auto">
            <a:xfrm>
              <a:off x="2160" y="1708"/>
              <a:ext cx="480" cy="2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76" name="Rectangle 2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A</a:t>
              </a:r>
            </a:p>
          </p:txBody>
        </p:sp>
        <p:sp>
          <p:nvSpPr>
            <p:cNvPr id="177" name="Rectangle 21"/>
            <p:cNvSpPr>
              <a:spLocks noChangeArrowheads="1"/>
            </p:cNvSpPr>
            <p:nvPr/>
          </p:nvSpPr>
          <p:spPr bwMode="auto">
            <a:xfrm>
              <a:off x="2166" y="1959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" name="Rectangle 2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23"/>
            <p:cNvSpPr>
              <a:spLocks noChangeArrowheads="1"/>
            </p:cNvSpPr>
            <p:nvPr/>
          </p:nvSpPr>
          <p:spPr bwMode="auto">
            <a:xfrm>
              <a:off x="216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0" name="Rectangle 24"/>
            <p:cNvSpPr>
              <a:spLocks noChangeArrowheads="1"/>
            </p:cNvSpPr>
            <p:nvPr/>
          </p:nvSpPr>
          <p:spPr bwMode="auto">
            <a:xfrm>
              <a:off x="3136" y="2706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1" name="Group 25"/>
          <p:cNvGrpSpPr>
            <a:grpSpLocks/>
          </p:cNvGrpSpPr>
          <p:nvPr/>
        </p:nvGrpSpPr>
        <p:grpSpPr bwMode="auto">
          <a:xfrm>
            <a:off x="2398267" y="1139031"/>
            <a:ext cx="1255514" cy="1620838"/>
            <a:chOff x="2160" y="1667"/>
            <a:chExt cx="1534" cy="1683"/>
          </a:xfrm>
        </p:grpSpPr>
        <p:sp>
          <p:nvSpPr>
            <p:cNvPr id="182" name="Text Box 26"/>
            <p:cNvSpPr txBox="1">
              <a:spLocks noChangeArrowheads="1"/>
            </p:cNvSpPr>
            <p:nvPr/>
          </p:nvSpPr>
          <p:spPr bwMode="auto">
            <a:xfrm>
              <a:off x="3194" y="3035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83" name="Text Box 27"/>
            <p:cNvSpPr txBox="1">
              <a:spLocks noChangeArrowheads="1"/>
            </p:cNvSpPr>
            <p:nvPr/>
          </p:nvSpPr>
          <p:spPr bwMode="auto">
            <a:xfrm>
              <a:off x="2204" y="3035"/>
              <a:ext cx="480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84" name="Text Box 2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85" name="Text Box 29"/>
            <p:cNvSpPr txBox="1">
              <a:spLocks noChangeArrowheads="1"/>
            </p:cNvSpPr>
            <p:nvPr/>
          </p:nvSpPr>
          <p:spPr bwMode="auto">
            <a:xfrm>
              <a:off x="2160" y="167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86" name="Rectangle 3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Duration=6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7" name="Rectangle 3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Rectangle 3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Rectangle 33"/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" name="Rectangle 34"/>
            <p:cNvSpPr>
              <a:spLocks noChangeArrowheads="1"/>
            </p:cNvSpPr>
            <p:nvPr/>
          </p:nvSpPr>
          <p:spPr bwMode="auto">
            <a:xfrm>
              <a:off x="3140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2" name="Group 35"/>
          <p:cNvGrpSpPr>
            <a:grpSpLocks/>
          </p:cNvGrpSpPr>
          <p:nvPr/>
        </p:nvGrpSpPr>
        <p:grpSpPr bwMode="auto">
          <a:xfrm>
            <a:off x="4311158" y="1124744"/>
            <a:ext cx="1252301" cy="1690687"/>
            <a:chOff x="2158" y="1652"/>
            <a:chExt cx="1532" cy="1756"/>
          </a:xfrm>
        </p:grpSpPr>
        <p:sp>
          <p:nvSpPr>
            <p:cNvPr id="193" name="Text Box 36"/>
            <p:cNvSpPr txBox="1">
              <a:spLocks noChangeArrowheads="1"/>
            </p:cNvSpPr>
            <p:nvPr/>
          </p:nvSpPr>
          <p:spPr bwMode="auto">
            <a:xfrm>
              <a:off x="3194" y="309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94" name="Text Box 37"/>
            <p:cNvSpPr txBox="1">
              <a:spLocks noChangeArrowheads="1"/>
            </p:cNvSpPr>
            <p:nvPr/>
          </p:nvSpPr>
          <p:spPr bwMode="auto">
            <a:xfrm>
              <a:off x="2204" y="309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95" name="Text Box 3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96" name="Text Box 3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97" name="Rectangle 4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</a:t>
              </a:r>
            </a:p>
          </p:txBody>
        </p:sp>
        <p:sp>
          <p:nvSpPr>
            <p:cNvPr id="198" name="Rectangle 4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9" name="Rectangle 4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0" name="Rectangle 43"/>
            <p:cNvSpPr>
              <a:spLocks noChangeArrowheads="1"/>
            </p:cNvSpPr>
            <p:nvPr/>
          </p:nvSpPr>
          <p:spPr bwMode="auto">
            <a:xfrm>
              <a:off x="2158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1" name="Rectangle 44"/>
            <p:cNvSpPr>
              <a:spLocks noChangeArrowheads="1"/>
            </p:cNvSpPr>
            <p:nvPr/>
          </p:nvSpPr>
          <p:spPr bwMode="auto">
            <a:xfrm>
              <a:off x="3132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2" name="Group 45"/>
          <p:cNvGrpSpPr>
            <a:grpSpLocks/>
          </p:cNvGrpSpPr>
          <p:nvPr/>
        </p:nvGrpSpPr>
        <p:grpSpPr bwMode="auto">
          <a:xfrm>
            <a:off x="6079680" y="1124744"/>
            <a:ext cx="1250666" cy="1584325"/>
            <a:chOff x="2160" y="1652"/>
            <a:chExt cx="1530" cy="1645"/>
          </a:xfrm>
        </p:grpSpPr>
        <p:sp>
          <p:nvSpPr>
            <p:cNvPr id="203" name="Text Box 46"/>
            <p:cNvSpPr txBox="1">
              <a:spLocks noChangeArrowheads="1"/>
            </p:cNvSpPr>
            <p:nvPr/>
          </p:nvSpPr>
          <p:spPr bwMode="auto">
            <a:xfrm>
              <a:off x="3194" y="3035"/>
              <a:ext cx="480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204" name="Text Box 47"/>
            <p:cNvSpPr txBox="1">
              <a:spLocks noChangeArrowheads="1"/>
            </p:cNvSpPr>
            <p:nvPr/>
          </p:nvSpPr>
          <p:spPr bwMode="auto">
            <a:xfrm>
              <a:off x="2204" y="3035"/>
              <a:ext cx="480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205" name="Text Box 48"/>
            <p:cNvSpPr txBox="1">
              <a:spLocks noChangeArrowheads="1"/>
            </p:cNvSpPr>
            <p:nvPr/>
          </p:nvSpPr>
          <p:spPr bwMode="auto">
            <a:xfrm>
              <a:off x="3194" y="1713"/>
              <a:ext cx="480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206" name="Text Box 4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207" name="Rectangle 5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D</a:t>
              </a:r>
            </a:p>
          </p:txBody>
        </p:sp>
        <p:sp>
          <p:nvSpPr>
            <p:cNvPr id="208" name="Rectangle 5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Rectangle 5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0" name="Rectangle 53"/>
            <p:cNvSpPr>
              <a:spLocks noChangeArrowheads="1"/>
            </p:cNvSpPr>
            <p:nvPr/>
          </p:nvSpPr>
          <p:spPr bwMode="auto">
            <a:xfrm>
              <a:off x="2170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1" name="Rectangle 54"/>
            <p:cNvSpPr>
              <a:spLocks noChangeArrowheads="1"/>
            </p:cNvSpPr>
            <p:nvPr/>
          </p:nvSpPr>
          <p:spPr bwMode="auto">
            <a:xfrm>
              <a:off x="3134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2" name="Group 55"/>
          <p:cNvGrpSpPr>
            <a:grpSpLocks/>
          </p:cNvGrpSpPr>
          <p:nvPr/>
        </p:nvGrpSpPr>
        <p:grpSpPr bwMode="auto">
          <a:xfrm>
            <a:off x="2563368" y="3985419"/>
            <a:ext cx="1250666" cy="1609725"/>
            <a:chOff x="2160" y="1616"/>
            <a:chExt cx="1530" cy="1671"/>
          </a:xfrm>
        </p:grpSpPr>
        <p:sp>
          <p:nvSpPr>
            <p:cNvPr id="213" name="Text Box 56"/>
            <p:cNvSpPr txBox="1">
              <a:spLocks noChangeArrowheads="1"/>
            </p:cNvSpPr>
            <p:nvPr/>
          </p:nvSpPr>
          <p:spPr bwMode="auto">
            <a:xfrm>
              <a:off x="3229" y="3002"/>
              <a:ext cx="44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214" name="Text Box 57"/>
            <p:cNvSpPr txBox="1">
              <a:spLocks noChangeArrowheads="1"/>
            </p:cNvSpPr>
            <p:nvPr/>
          </p:nvSpPr>
          <p:spPr bwMode="auto">
            <a:xfrm>
              <a:off x="2215" y="3002"/>
              <a:ext cx="469" cy="2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215" name="Text Box 58"/>
            <p:cNvSpPr txBox="1">
              <a:spLocks noChangeArrowheads="1"/>
            </p:cNvSpPr>
            <p:nvPr/>
          </p:nvSpPr>
          <p:spPr bwMode="auto">
            <a:xfrm>
              <a:off x="3194" y="1616"/>
              <a:ext cx="480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endPara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6" name="Text Box 5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217" name="Rectangle 6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</a:t>
              </a:r>
            </a:p>
          </p:txBody>
        </p:sp>
        <p:sp>
          <p:nvSpPr>
            <p:cNvPr id="218" name="Rectangle 61"/>
            <p:cNvSpPr>
              <a:spLocks noChangeArrowheads="1"/>
            </p:cNvSpPr>
            <p:nvPr/>
          </p:nvSpPr>
          <p:spPr bwMode="auto">
            <a:xfrm>
              <a:off x="217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Rectangle 62"/>
            <p:cNvSpPr>
              <a:spLocks noChangeArrowheads="1"/>
            </p:cNvSpPr>
            <p:nvPr/>
          </p:nvSpPr>
          <p:spPr bwMode="auto">
            <a:xfrm>
              <a:off x="3131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0" name="Rectangle 63"/>
            <p:cNvSpPr>
              <a:spLocks noChangeArrowheads="1"/>
            </p:cNvSpPr>
            <p:nvPr/>
          </p:nvSpPr>
          <p:spPr bwMode="auto">
            <a:xfrm>
              <a:off x="2166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Rectangle 64"/>
            <p:cNvSpPr>
              <a:spLocks noChangeArrowheads="1"/>
            </p:cNvSpPr>
            <p:nvPr/>
          </p:nvSpPr>
          <p:spPr bwMode="auto">
            <a:xfrm>
              <a:off x="3138" y="2701"/>
              <a:ext cx="549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2" name="Group 65"/>
          <p:cNvGrpSpPr>
            <a:grpSpLocks/>
          </p:cNvGrpSpPr>
          <p:nvPr/>
        </p:nvGrpSpPr>
        <p:grpSpPr bwMode="auto">
          <a:xfrm>
            <a:off x="5343080" y="3977481"/>
            <a:ext cx="1250666" cy="1646238"/>
            <a:chOff x="2160" y="1652"/>
            <a:chExt cx="1530" cy="1709"/>
          </a:xfrm>
        </p:grpSpPr>
        <p:sp>
          <p:nvSpPr>
            <p:cNvPr id="223" name="Text Box 66"/>
            <p:cNvSpPr txBox="1">
              <a:spLocks noChangeArrowheads="1"/>
            </p:cNvSpPr>
            <p:nvPr/>
          </p:nvSpPr>
          <p:spPr bwMode="auto">
            <a:xfrm>
              <a:off x="3194" y="3042"/>
              <a:ext cx="480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224" name="Text Box 67"/>
            <p:cNvSpPr txBox="1">
              <a:spLocks noChangeArrowheads="1"/>
            </p:cNvSpPr>
            <p:nvPr/>
          </p:nvSpPr>
          <p:spPr bwMode="auto">
            <a:xfrm>
              <a:off x="2204" y="3046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225" name="Text Box 6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226" name="Text Box 6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227" name="Rectangle 7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Duration=8</a:t>
              </a: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F</a:t>
              </a:r>
            </a:p>
          </p:txBody>
        </p:sp>
        <p:sp>
          <p:nvSpPr>
            <p:cNvPr id="228" name="Rectangle 71"/>
            <p:cNvSpPr>
              <a:spLocks noChangeArrowheads="1"/>
            </p:cNvSpPr>
            <p:nvPr/>
          </p:nvSpPr>
          <p:spPr bwMode="auto">
            <a:xfrm>
              <a:off x="2166" y="1958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9" name="Rectangle 72"/>
            <p:cNvSpPr>
              <a:spLocks noChangeArrowheads="1"/>
            </p:cNvSpPr>
            <p:nvPr/>
          </p:nvSpPr>
          <p:spPr bwMode="auto">
            <a:xfrm>
              <a:off x="3136" y="196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0" name="Rectangle 73"/>
            <p:cNvSpPr>
              <a:spLocks noChangeArrowheads="1"/>
            </p:cNvSpPr>
            <p:nvPr/>
          </p:nvSpPr>
          <p:spPr bwMode="auto">
            <a:xfrm>
              <a:off x="2170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1" name="Rectangle 74"/>
            <p:cNvSpPr>
              <a:spLocks noChangeArrowheads="1"/>
            </p:cNvSpPr>
            <p:nvPr/>
          </p:nvSpPr>
          <p:spPr bwMode="auto">
            <a:xfrm>
              <a:off x="3132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2" name="Line 75"/>
          <p:cNvSpPr>
            <a:spLocks noChangeShapeType="1"/>
          </p:cNvSpPr>
          <p:nvPr/>
        </p:nvSpPr>
        <p:spPr bwMode="auto">
          <a:xfrm flipV="1">
            <a:off x="1367979" y="1723231"/>
            <a:ext cx="1030288" cy="1203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Line 76"/>
          <p:cNvSpPr>
            <a:spLocks noChangeShapeType="1"/>
          </p:cNvSpPr>
          <p:nvPr/>
        </p:nvSpPr>
        <p:spPr bwMode="auto">
          <a:xfrm>
            <a:off x="3647326" y="1765602"/>
            <a:ext cx="67691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Line 77"/>
          <p:cNvSpPr>
            <a:spLocks noChangeShapeType="1"/>
          </p:cNvSpPr>
          <p:nvPr/>
        </p:nvSpPr>
        <p:spPr bwMode="auto">
          <a:xfrm>
            <a:off x="5570091" y="1734962"/>
            <a:ext cx="487809" cy="265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Line 78"/>
          <p:cNvSpPr>
            <a:spLocks noChangeShapeType="1"/>
          </p:cNvSpPr>
          <p:nvPr/>
        </p:nvSpPr>
        <p:spPr bwMode="auto">
          <a:xfrm>
            <a:off x="7353683" y="1765602"/>
            <a:ext cx="986423" cy="836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Line 79"/>
          <p:cNvSpPr>
            <a:spLocks noChangeShapeType="1"/>
          </p:cNvSpPr>
          <p:nvPr/>
        </p:nvSpPr>
        <p:spPr bwMode="auto">
          <a:xfrm>
            <a:off x="1367979" y="3377406"/>
            <a:ext cx="1177925" cy="135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Line 80"/>
          <p:cNvSpPr>
            <a:spLocks noChangeShapeType="1"/>
          </p:cNvSpPr>
          <p:nvPr/>
        </p:nvSpPr>
        <p:spPr bwMode="auto">
          <a:xfrm flipV="1">
            <a:off x="3204915" y="2226469"/>
            <a:ext cx="1101527" cy="207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Line 81"/>
          <p:cNvSpPr>
            <a:spLocks noChangeShapeType="1"/>
          </p:cNvSpPr>
          <p:nvPr/>
        </p:nvSpPr>
        <p:spPr bwMode="auto">
          <a:xfrm>
            <a:off x="3814033" y="4729956"/>
            <a:ext cx="15290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Line 82"/>
          <p:cNvSpPr>
            <a:spLocks noChangeShapeType="1"/>
          </p:cNvSpPr>
          <p:nvPr/>
        </p:nvSpPr>
        <p:spPr bwMode="auto">
          <a:xfrm flipV="1">
            <a:off x="6615970" y="3653439"/>
            <a:ext cx="1724136" cy="11340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3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矩形 112"/>
          <p:cNvSpPr/>
          <p:nvPr/>
        </p:nvSpPr>
        <p:spPr>
          <a:xfrm>
            <a:off x="7179" y="765603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9028" name="Group 5"/>
          <p:cNvGrpSpPr>
            <a:grpSpLocks/>
          </p:cNvGrpSpPr>
          <p:nvPr/>
        </p:nvGrpSpPr>
        <p:grpSpPr bwMode="auto">
          <a:xfrm>
            <a:off x="7762430" y="2614513"/>
            <a:ext cx="1250666" cy="1658938"/>
            <a:chOff x="2160" y="1652"/>
            <a:chExt cx="1530" cy="1724"/>
          </a:xfrm>
        </p:grpSpPr>
        <p:sp>
          <p:nvSpPr>
            <p:cNvPr id="129128" name="Text Box 6"/>
            <p:cNvSpPr txBox="1">
              <a:spLocks noChangeArrowheads="1"/>
            </p:cNvSpPr>
            <p:nvPr/>
          </p:nvSpPr>
          <p:spPr bwMode="auto">
            <a:xfrm>
              <a:off x="3194" y="3031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129" name="Text Box 7"/>
            <p:cNvSpPr txBox="1">
              <a:spLocks noChangeArrowheads="1"/>
            </p:cNvSpPr>
            <p:nvPr/>
          </p:nvSpPr>
          <p:spPr bwMode="auto">
            <a:xfrm>
              <a:off x="2203" y="3061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130" name="Text Box 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131" name="Text Box 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132" name="Rectangle 1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G</a:t>
              </a:r>
            </a:p>
          </p:txBody>
        </p:sp>
        <p:sp>
          <p:nvSpPr>
            <p:cNvPr id="129133" name="Rectangle 11"/>
            <p:cNvSpPr>
              <a:spLocks noChangeArrowheads="1"/>
            </p:cNvSpPr>
            <p:nvPr/>
          </p:nvSpPr>
          <p:spPr bwMode="auto">
            <a:xfrm>
              <a:off x="2166" y="195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34" name="Rectangle 12"/>
            <p:cNvSpPr>
              <a:spLocks noChangeArrowheads="1"/>
            </p:cNvSpPr>
            <p:nvPr/>
          </p:nvSpPr>
          <p:spPr bwMode="auto">
            <a:xfrm>
              <a:off x="3130" y="1957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35" name="Rectangle 13"/>
            <p:cNvSpPr>
              <a:spLocks noChangeArrowheads="1"/>
            </p:cNvSpPr>
            <p:nvPr/>
          </p:nvSpPr>
          <p:spPr bwMode="auto">
            <a:xfrm>
              <a:off x="216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36" name="Rectangle 14"/>
            <p:cNvSpPr>
              <a:spLocks noChangeArrowheads="1"/>
            </p:cNvSpPr>
            <p:nvPr/>
          </p:nvSpPr>
          <p:spPr bwMode="auto">
            <a:xfrm>
              <a:off x="3134" y="2697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29" name="Group 15"/>
          <p:cNvGrpSpPr>
            <a:grpSpLocks/>
          </p:cNvGrpSpPr>
          <p:nvPr/>
        </p:nvGrpSpPr>
        <p:grpSpPr bwMode="auto">
          <a:xfrm>
            <a:off x="107504" y="2728813"/>
            <a:ext cx="1260475" cy="1547813"/>
            <a:chOff x="2160" y="1689"/>
            <a:chExt cx="1542" cy="1610"/>
          </a:xfrm>
        </p:grpSpPr>
        <p:sp>
          <p:nvSpPr>
            <p:cNvPr id="129119" name="Text Box 16"/>
            <p:cNvSpPr txBox="1">
              <a:spLocks noChangeArrowheads="1"/>
            </p:cNvSpPr>
            <p:nvPr/>
          </p:nvSpPr>
          <p:spPr bwMode="auto">
            <a:xfrm>
              <a:off x="3253" y="3053"/>
              <a:ext cx="449" cy="2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120" name="Text Box 17"/>
            <p:cNvSpPr txBox="1">
              <a:spLocks noChangeArrowheads="1"/>
            </p:cNvSpPr>
            <p:nvPr/>
          </p:nvSpPr>
          <p:spPr bwMode="auto">
            <a:xfrm>
              <a:off x="2218" y="3049"/>
              <a:ext cx="466" cy="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121" name="Text Box 18"/>
            <p:cNvSpPr txBox="1">
              <a:spLocks noChangeArrowheads="1"/>
            </p:cNvSpPr>
            <p:nvPr/>
          </p:nvSpPr>
          <p:spPr bwMode="auto">
            <a:xfrm>
              <a:off x="3194" y="1689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122" name="Text Box 19"/>
            <p:cNvSpPr txBox="1">
              <a:spLocks noChangeArrowheads="1"/>
            </p:cNvSpPr>
            <p:nvPr/>
          </p:nvSpPr>
          <p:spPr bwMode="auto">
            <a:xfrm>
              <a:off x="2160" y="1708"/>
              <a:ext cx="480" cy="2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123" name="Rectangle 2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A</a:t>
              </a:r>
            </a:p>
          </p:txBody>
        </p:sp>
        <p:sp>
          <p:nvSpPr>
            <p:cNvPr id="129124" name="Rectangle 21"/>
            <p:cNvSpPr>
              <a:spLocks noChangeArrowheads="1"/>
            </p:cNvSpPr>
            <p:nvPr/>
          </p:nvSpPr>
          <p:spPr bwMode="auto">
            <a:xfrm>
              <a:off x="2166" y="1959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9125" name="Rectangle 2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26" name="Rectangle 23"/>
            <p:cNvSpPr>
              <a:spLocks noChangeArrowheads="1"/>
            </p:cNvSpPr>
            <p:nvPr/>
          </p:nvSpPr>
          <p:spPr bwMode="auto">
            <a:xfrm>
              <a:off x="216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27" name="Rectangle 24"/>
            <p:cNvSpPr>
              <a:spLocks noChangeArrowheads="1"/>
            </p:cNvSpPr>
            <p:nvPr/>
          </p:nvSpPr>
          <p:spPr bwMode="auto">
            <a:xfrm>
              <a:off x="3136" y="2706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30" name="Group 25"/>
          <p:cNvGrpSpPr>
            <a:grpSpLocks/>
          </p:cNvGrpSpPr>
          <p:nvPr/>
        </p:nvGrpSpPr>
        <p:grpSpPr bwMode="auto">
          <a:xfrm>
            <a:off x="2398267" y="1427063"/>
            <a:ext cx="1255514" cy="1620838"/>
            <a:chOff x="2160" y="1667"/>
            <a:chExt cx="1534" cy="1683"/>
          </a:xfrm>
        </p:grpSpPr>
        <p:sp>
          <p:nvSpPr>
            <p:cNvPr id="129110" name="Text Box 26"/>
            <p:cNvSpPr txBox="1">
              <a:spLocks noChangeArrowheads="1"/>
            </p:cNvSpPr>
            <p:nvPr/>
          </p:nvSpPr>
          <p:spPr bwMode="auto">
            <a:xfrm>
              <a:off x="3194" y="3035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111" name="Text Box 27"/>
            <p:cNvSpPr txBox="1">
              <a:spLocks noChangeArrowheads="1"/>
            </p:cNvSpPr>
            <p:nvPr/>
          </p:nvSpPr>
          <p:spPr bwMode="auto">
            <a:xfrm>
              <a:off x="2204" y="3035"/>
              <a:ext cx="480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112" name="Text Box 2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113" name="Text Box 29"/>
            <p:cNvSpPr txBox="1">
              <a:spLocks noChangeArrowheads="1"/>
            </p:cNvSpPr>
            <p:nvPr/>
          </p:nvSpPr>
          <p:spPr bwMode="auto">
            <a:xfrm>
              <a:off x="2160" y="167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114" name="Rectangle 3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Duration=6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9115" name="Rectangle 3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16" name="Rectangle 3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17" name="Rectangle 33"/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18" name="Rectangle 34"/>
            <p:cNvSpPr>
              <a:spLocks noChangeArrowheads="1"/>
            </p:cNvSpPr>
            <p:nvPr/>
          </p:nvSpPr>
          <p:spPr bwMode="auto">
            <a:xfrm>
              <a:off x="3140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31" name="Group 35"/>
          <p:cNvGrpSpPr>
            <a:grpSpLocks/>
          </p:cNvGrpSpPr>
          <p:nvPr/>
        </p:nvGrpSpPr>
        <p:grpSpPr bwMode="auto">
          <a:xfrm>
            <a:off x="4311158" y="1412776"/>
            <a:ext cx="1252301" cy="1690687"/>
            <a:chOff x="2158" y="1652"/>
            <a:chExt cx="1532" cy="1756"/>
          </a:xfrm>
        </p:grpSpPr>
        <p:sp>
          <p:nvSpPr>
            <p:cNvPr id="129101" name="Text Box 36"/>
            <p:cNvSpPr txBox="1">
              <a:spLocks noChangeArrowheads="1"/>
            </p:cNvSpPr>
            <p:nvPr/>
          </p:nvSpPr>
          <p:spPr bwMode="auto">
            <a:xfrm>
              <a:off x="3194" y="309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102" name="Text Box 37"/>
            <p:cNvSpPr txBox="1">
              <a:spLocks noChangeArrowheads="1"/>
            </p:cNvSpPr>
            <p:nvPr/>
          </p:nvSpPr>
          <p:spPr bwMode="auto">
            <a:xfrm>
              <a:off x="2204" y="3093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103" name="Text Box 3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104" name="Text Box 3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105" name="Rectangle 4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</a:t>
              </a:r>
            </a:p>
          </p:txBody>
        </p:sp>
        <p:sp>
          <p:nvSpPr>
            <p:cNvPr id="129106" name="Rectangle 4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07" name="Rectangle 4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08" name="Rectangle 43"/>
            <p:cNvSpPr>
              <a:spLocks noChangeArrowheads="1"/>
            </p:cNvSpPr>
            <p:nvPr/>
          </p:nvSpPr>
          <p:spPr bwMode="auto">
            <a:xfrm>
              <a:off x="2158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09" name="Rectangle 44"/>
            <p:cNvSpPr>
              <a:spLocks noChangeArrowheads="1"/>
            </p:cNvSpPr>
            <p:nvPr/>
          </p:nvSpPr>
          <p:spPr bwMode="auto">
            <a:xfrm>
              <a:off x="3132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32" name="Group 45"/>
          <p:cNvGrpSpPr>
            <a:grpSpLocks/>
          </p:cNvGrpSpPr>
          <p:nvPr/>
        </p:nvGrpSpPr>
        <p:grpSpPr bwMode="auto">
          <a:xfrm>
            <a:off x="6079680" y="1412776"/>
            <a:ext cx="1250666" cy="1584325"/>
            <a:chOff x="2160" y="1652"/>
            <a:chExt cx="1530" cy="1645"/>
          </a:xfrm>
        </p:grpSpPr>
        <p:sp>
          <p:nvSpPr>
            <p:cNvPr id="129092" name="Text Box 46"/>
            <p:cNvSpPr txBox="1">
              <a:spLocks noChangeArrowheads="1"/>
            </p:cNvSpPr>
            <p:nvPr/>
          </p:nvSpPr>
          <p:spPr bwMode="auto">
            <a:xfrm>
              <a:off x="3194" y="3035"/>
              <a:ext cx="480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093" name="Text Box 47"/>
            <p:cNvSpPr txBox="1">
              <a:spLocks noChangeArrowheads="1"/>
            </p:cNvSpPr>
            <p:nvPr/>
          </p:nvSpPr>
          <p:spPr bwMode="auto">
            <a:xfrm>
              <a:off x="2204" y="3035"/>
              <a:ext cx="480" cy="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094" name="Text Box 48"/>
            <p:cNvSpPr txBox="1">
              <a:spLocks noChangeArrowheads="1"/>
            </p:cNvSpPr>
            <p:nvPr/>
          </p:nvSpPr>
          <p:spPr bwMode="auto">
            <a:xfrm>
              <a:off x="3194" y="1713"/>
              <a:ext cx="480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095" name="Text Box 4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096" name="Rectangle 5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D</a:t>
              </a:r>
            </a:p>
          </p:txBody>
        </p:sp>
        <p:sp>
          <p:nvSpPr>
            <p:cNvPr id="129097" name="Rectangle 51"/>
            <p:cNvSpPr>
              <a:spLocks noChangeArrowheads="1"/>
            </p:cNvSpPr>
            <p:nvPr/>
          </p:nvSpPr>
          <p:spPr bwMode="auto">
            <a:xfrm>
              <a:off x="216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98" name="Rectangle 52"/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99" name="Rectangle 53"/>
            <p:cNvSpPr>
              <a:spLocks noChangeArrowheads="1"/>
            </p:cNvSpPr>
            <p:nvPr/>
          </p:nvSpPr>
          <p:spPr bwMode="auto">
            <a:xfrm>
              <a:off x="2170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100" name="Rectangle 54"/>
            <p:cNvSpPr>
              <a:spLocks noChangeArrowheads="1"/>
            </p:cNvSpPr>
            <p:nvPr/>
          </p:nvSpPr>
          <p:spPr bwMode="auto">
            <a:xfrm>
              <a:off x="3134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33" name="Group 55"/>
          <p:cNvGrpSpPr>
            <a:grpSpLocks/>
          </p:cNvGrpSpPr>
          <p:nvPr/>
        </p:nvGrpSpPr>
        <p:grpSpPr bwMode="auto">
          <a:xfrm>
            <a:off x="2563368" y="4273451"/>
            <a:ext cx="1250666" cy="1609725"/>
            <a:chOff x="2160" y="1616"/>
            <a:chExt cx="1530" cy="1671"/>
          </a:xfrm>
        </p:grpSpPr>
        <p:sp>
          <p:nvSpPr>
            <p:cNvPr id="129083" name="Text Box 56"/>
            <p:cNvSpPr txBox="1">
              <a:spLocks noChangeArrowheads="1"/>
            </p:cNvSpPr>
            <p:nvPr/>
          </p:nvSpPr>
          <p:spPr bwMode="auto">
            <a:xfrm>
              <a:off x="3229" y="3002"/>
              <a:ext cx="44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084" name="Text Box 57"/>
            <p:cNvSpPr txBox="1">
              <a:spLocks noChangeArrowheads="1"/>
            </p:cNvSpPr>
            <p:nvPr/>
          </p:nvSpPr>
          <p:spPr bwMode="auto">
            <a:xfrm>
              <a:off x="2215" y="3002"/>
              <a:ext cx="469" cy="2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085" name="Text Box 58"/>
            <p:cNvSpPr txBox="1">
              <a:spLocks noChangeArrowheads="1"/>
            </p:cNvSpPr>
            <p:nvPr/>
          </p:nvSpPr>
          <p:spPr bwMode="auto">
            <a:xfrm>
              <a:off x="3194" y="1616"/>
              <a:ext cx="480" cy="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endParaRPr kumimoji="0" lang="en-US" altLang="zh-CN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86" name="Text Box 5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087" name="Rectangle 6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Duration=8</a:t>
              </a: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E</a:t>
              </a:r>
            </a:p>
          </p:txBody>
        </p:sp>
        <p:sp>
          <p:nvSpPr>
            <p:cNvPr id="129088" name="Rectangle 61"/>
            <p:cNvSpPr>
              <a:spLocks noChangeArrowheads="1"/>
            </p:cNvSpPr>
            <p:nvPr/>
          </p:nvSpPr>
          <p:spPr bwMode="auto">
            <a:xfrm>
              <a:off x="217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89" name="Rectangle 62"/>
            <p:cNvSpPr>
              <a:spLocks noChangeArrowheads="1"/>
            </p:cNvSpPr>
            <p:nvPr/>
          </p:nvSpPr>
          <p:spPr bwMode="auto">
            <a:xfrm>
              <a:off x="3131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90" name="Rectangle 63"/>
            <p:cNvSpPr>
              <a:spLocks noChangeArrowheads="1"/>
            </p:cNvSpPr>
            <p:nvPr/>
          </p:nvSpPr>
          <p:spPr bwMode="auto">
            <a:xfrm>
              <a:off x="2166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91" name="Rectangle 64"/>
            <p:cNvSpPr>
              <a:spLocks noChangeArrowheads="1"/>
            </p:cNvSpPr>
            <p:nvPr/>
          </p:nvSpPr>
          <p:spPr bwMode="auto">
            <a:xfrm>
              <a:off x="3138" y="2701"/>
              <a:ext cx="549" cy="2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034" name="Group 65"/>
          <p:cNvGrpSpPr>
            <a:grpSpLocks/>
          </p:cNvGrpSpPr>
          <p:nvPr/>
        </p:nvGrpSpPr>
        <p:grpSpPr bwMode="auto">
          <a:xfrm>
            <a:off x="5343080" y="4265513"/>
            <a:ext cx="1250666" cy="1646238"/>
            <a:chOff x="2160" y="1652"/>
            <a:chExt cx="1530" cy="1709"/>
          </a:xfrm>
        </p:grpSpPr>
        <p:sp>
          <p:nvSpPr>
            <p:cNvPr id="129074" name="Text Box 66"/>
            <p:cNvSpPr txBox="1">
              <a:spLocks noChangeArrowheads="1"/>
            </p:cNvSpPr>
            <p:nvPr/>
          </p:nvSpPr>
          <p:spPr bwMode="auto">
            <a:xfrm>
              <a:off x="3194" y="3042"/>
              <a:ext cx="480" cy="2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LF</a:t>
              </a:r>
            </a:p>
          </p:txBody>
        </p:sp>
        <p:sp>
          <p:nvSpPr>
            <p:cNvPr id="129075" name="Text Box 67"/>
            <p:cNvSpPr txBox="1">
              <a:spLocks noChangeArrowheads="1"/>
            </p:cNvSpPr>
            <p:nvPr/>
          </p:nvSpPr>
          <p:spPr bwMode="auto">
            <a:xfrm>
              <a:off x="2204" y="3046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LS</a:t>
              </a:r>
            </a:p>
          </p:txBody>
        </p:sp>
        <p:sp>
          <p:nvSpPr>
            <p:cNvPr id="129076" name="Text Box 68"/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</a:p>
          </p:txBody>
        </p:sp>
        <p:sp>
          <p:nvSpPr>
            <p:cNvPr id="129077" name="Text Box 69"/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129078" name="Rectangle 70"/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Duration=8</a:t>
              </a:r>
            </a:p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F</a:t>
              </a:r>
            </a:p>
          </p:txBody>
        </p:sp>
        <p:sp>
          <p:nvSpPr>
            <p:cNvPr id="129079" name="Rectangle 71"/>
            <p:cNvSpPr>
              <a:spLocks noChangeArrowheads="1"/>
            </p:cNvSpPr>
            <p:nvPr/>
          </p:nvSpPr>
          <p:spPr bwMode="auto">
            <a:xfrm>
              <a:off x="2166" y="1958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80" name="Rectangle 72"/>
            <p:cNvSpPr>
              <a:spLocks noChangeArrowheads="1"/>
            </p:cNvSpPr>
            <p:nvPr/>
          </p:nvSpPr>
          <p:spPr bwMode="auto">
            <a:xfrm>
              <a:off x="3136" y="196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81" name="Rectangle 73"/>
            <p:cNvSpPr>
              <a:spLocks noChangeArrowheads="1"/>
            </p:cNvSpPr>
            <p:nvPr/>
          </p:nvSpPr>
          <p:spPr bwMode="auto">
            <a:xfrm>
              <a:off x="2170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082" name="Rectangle 74"/>
            <p:cNvSpPr>
              <a:spLocks noChangeArrowheads="1"/>
            </p:cNvSpPr>
            <p:nvPr/>
          </p:nvSpPr>
          <p:spPr bwMode="auto">
            <a:xfrm>
              <a:off x="3132" y="2704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9035" name="Line 75"/>
          <p:cNvSpPr>
            <a:spLocks noChangeShapeType="1"/>
          </p:cNvSpPr>
          <p:nvPr/>
        </p:nvSpPr>
        <p:spPr bwMode="auto">
          <a:xfrm flipV="1">
            <a:off x="1367979" y="2011263"/>
            <a:ext cx="1030288" cy="1203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36" name="Line 76"/>
          <p:cNvSpPr>
            <a:spLocks noChangeShapeType="1"/>
          </p:cNvSpPr>
          <p:nvPr/>
        </p:nvSpPr>
        <p:spPr bwMode="auto">
          <a:xfrm>
            <a:off x="3647326" y="2053634"/>
            <a:ext cx="67691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37" name="Line 77"/>
          <p:cNvSpPr>
            <a:spLocks noChangeShapeType="1"/>
          </p:cNvSpPr>
          <p:nvPr/>
        </p:nvSpPr>
        <p:spPr bwMode="auto">
          <a:xfrm>
            <a:off x="5570091" y="2022994"/>
            <a:ext cx="487809" cy="265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38" name="Line 78"/>
          <p:cNvSpPr>
            <a:spLocks noChangeShapeType="1"/>
          </p:cNvSpPr>
          <p:nvPr/>
        </p:nvSpPr>
        <p:spPr bwMode="auto">
          <a:xfrm>
            <a:off x="7353683" y="2053634"/>
            <a:ext cx="986423" cy="836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39" name="Line 79"/>
          <p:cNvSpPr>
            <a:spLocks noChangeShapeType="1"/>
          </p:cNvSpPr>
          <p:nvPr/>
        </p:nvSpPr>
        <p:spPr bwMode="auto">
          <a:xfrm>
            <a:off x="1367979" y="3665438"/>
            <a:ext cx="1177925" cy="135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40" name="Line 80"/>
          <p:cNvSpPr>
            <a:spLocks noChangeShapeType="1"/>
          </p:cNvSpPr>
          <p:nvPr/>
        </p:nvSpPr>
        <p:spPr bwMode="auto">
          <a:xfrm flipV="1">
            <a:off x="3204915" y="2514501"/>
            <a:ext cx="1101527" cy="207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41" name="Line 81"/>
          <p:cNvSpPr>
            <a:spLocks noChangeShapeType="1"/>
          </p:cNvSpPr>
          <p:nvPr/>
        </p:nvSpPr>
        <p:spPr bwMode="auto">
          <a:xfrm>
            <a:off x="3814033" y="5017988"/>
            <a:ext cx="152904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42" name="Line 82"/>
          <p:cNvSpPr>
            <a:spLocks noChangeShapeType="1"/>
          </p:cNvSpPr>
          <p:nvPr/>
        </p:nvSpPr>
        <p:spPr bwMode="auto">
          <a:xfrm flipV="1">
            <a:off x="6615970" y="3941471"/>
            <a:ext cx="1724136" cy="11340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8195" name="Text Box 83"/>
          <p:cNvSpPr txBox="1">
            <a:spLocks noChangeArrowheads="1"/>
          </p:cNvSpPr>
          <p:nvPr/>
        </p:nvSpPr>
        <p:spPr bwMode="auto">
          <a:xfrm>
            <a:off x="994632" y="2965651"/>
            <a:ext cx="304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8196" name="Text Box 84"/>
          <p:cNvSpPr txBox="1">
            <a:spLocks noChangeArrowheads="1"/>
          </p:cNvSpPr>
          <p:nvPr/>
        </p:nvSpPr>
        <p:spPr bwMode="auto">
          <a:xfrm>
            <a:off x="2510133" y="1717576"/>
            <a:ext cx="304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8197" name="Text Box 85"/>
          <p:cNvSpPr txBox="1">
            <a:spLocks noChangeArrowheads="1"/>
          </p:cNvSpPr>
          <p:nvPr/>
        </p:nvSpPr>
        <p:spPr bwMode="auto">
          <a:xfrm>
            <a:off x="3231704" y="1717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858198" name="Text Box 86"/>
          <p:cNvSpPr txBox="1">
            <a:spLocks noChangeArrowheads="1"/>
          </p:cNvSpPr>
          <p:nvPr/>
        </p:nvSpPr>
        <p:spPr bwMode="auto">
          <a:xfrm>
            <a:off x="2641354" y="4585101"/>
            <a:ext cx="304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8199" name="Text Box 87"/>
          <p:cNvSpPr txBox="1">
            <a:spLocks noChangeArrowheads="1"/>
          </p:cNvSpPr>
          <p:nvPr/>
        </p:nvSpPr>
        <p:spPr bwMode="auto">
          <a:xfrm>
            <a:off x="3403354" y="4585101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00" name="Text Box 88"/>
          <p:cNvSpPr txBox="1">
            <a:spLocks noChangeArrowheads="1"/>
          </p:cNvSpPr>
          <p:nvPr/>
        </p:nvSpPr>
        <p:spPr bwMode="auto">
          <a:xfrm>
            <a:off x="4374704" y="1717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01" name="Text Box 89"/>
          <p:cNvSpPr txBox="1">
            <a:spLocks noChangeArrowheads="1"/>
          </p:cNvSpPr>
          <p:nvPr/>
        </p:nvSpPr>
        <p:spPr bwMode="auto">
          <a:xfrm>
            <a:off x="5136704" y="1717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858202" name="Text Box 90"/>
          <p:cNvSpPr txBox="1">
            <a:spLocks noChangeArrowheads="1"/>
          </p:cNvSpPr>
          <p:nvPr/>
        </p:nvSpPr>
        <p:spPr bwMode="auto">
          <a:xfrm>
            <a:off x="6127304" y="1717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858203" name="Text Box 91"/>
          <p:cNvSpPr txBox="1">
            <a:spLocks noChangeArrowheads="1"/>
          </p:cNvSpPr>
          <p:nvPr/>
        </p:nvSpPr>
        <p:spPr bwMode="auto">
          <a:xfrm>
            <a:off x="6889304" y="1717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858205" name="Text Box 93"/>
          <p:cNvSpPr txBox="1">
            <a:spLocks noChangeArrowheads="1"/>
          </p:cNvSpPr>
          <p:nvPr/>
        </p:nvSpPr>
        <p:spPr bwMode="auto">
          <a:xfrm>
            <a:off x="5365304" y="45369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06" name="Text Box 94"/>
          <p:cNvSpPr txBox="1">
            <a:spLocks noChangeArrowheads="1"/>
          </p:cNvSpPr>
          <p:nvPr/>
        </p:nvSpPr>
        <p:spPr bwMode="auto">
          <a:xfrm>
            <a:off x="6127304" y="45369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858207" name="Text Box 95"/>
          <p:cNvSpPr txBox="1">
            <a:spLocks noChangeArrowheads="1"/>
          </p:cNvSpPr>
          <p:nvPr/>
        </p:nvSpPr>
        <p:spPr bwMode="auto">
          <a:xfrm>
            <a:off x="7787829" y="28990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858208" name="Text Box 96"/>
          <p:cNvSpPr txBox="1">
            <a:spLocks noChangeArrowheads="1"/>
          </p:cNvSpPr>
          <p:nvPr/>
        </p:nvSpPr>
        <p:spPr bwMode="auto">
          <a:xfrm>
            <a:off x="8641904" y="2907901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858209" name="Text Box 97"/>
          <p:cNvSpPr txBox="1">
            <a:spLocks noChangeArrowheads="1"/>
          </p:cNvSpPr>
          <p:nvPr/>
        </p:nvSpPr>
        <p:spPr bwMode="auto">
          <a:xfrm>
            <a:off x="8641904" y="3622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858210" name="Text Box 98"/>
          <p:cNvSpPr txBox="1">
            <a:spLocks noChangeArrowheads="1"/>
          </p:cNvSpPr>
          <p:nvPr/>
        </p:nvSpPr>
        <p:spPr bwMode="auto">
          <a:xfrm>
            <a:off x="7794079" y="36225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858211" name="Text Box 99"/>
          <p:cNvSpPr txBox="1">
            <a:spLocks noChangeArrowheads="1"/>
          </p:cNvSpPr>
          <p:nvPr/>
        </p:nvSpPr>
        <p:spPr bwMode="auto">
          <a:xfrm>
            <a:off x="6965504" y="24033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858212" name="Text Box 100"/>
          <p:cNvSpPr txBox="1">
            <a:spLocks noChangeArrowheads="1"/>
          </p:cNvSpPr>
          <p:nvPr/>
        </p:nvSpPr>
        <p:spPr bwMode="auto">
          <a:xfrm>
            <a:off x="6203504" y="52604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858213" name="Text Box 101"/>
          <p:cNvSpPr txBox="1">
            <a:spLocks noChangeArrowheads="1"/>
          </p:cNvSpPr>
          <p:nvPr/>
        </p:nvSpPr>
        <p:spPr bwMode="auto">
          <a:xfrm>
            <a:off x="5365304" y="527972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858214" name="Text Box 102"/>
          <p:cNvSpPr txBox="1">
            <a:spLocks noChangeArrowheads="1"/>
          </p:cNvSpPr>
          <p:nvPr/>
        </p:nvSpPr>
        <p:spPr bwMode="auto">
          <a:xfrm>
            <a:off x="6127304" y="24033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858215" name="Text Box 103"/>
          <p:cNvSpPr txBox="1">
            <a:spLocks noChangeArrowheads="1"/>
          </p:cNvSpPr>
          <p:nvPr/>
        </p:nvSpPr>
        <p:spPr bwMode="auto">
          <a:xfrm>
            <a:off x="5146329" y="24033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858216" name="Text Box 104"/>
          <p:cNvSpPr txBox="1">
            <a:spLocks noChangeArrowheads="1"/>
          </p:cNvSpPr>
          <p:nvPr/>
        </p:nvSpPr>
        <p:spPr bwMode="auto">
          <a:xfrm>
            <a:off x="4356254" y="2403376"/>
            <a:ext cx="437996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17" name="Text Box 105"/>
          <p:cNvSpPr txBox="1">
            <a:spLocks noChangeArrowheads="1"/>
          </p:cNvSpPr>
          <p:nvPr/>
        </p:nvSpPr>
        <p:spPr bwMode="auto">
          <a:xfrm>
            <a:off x="3231704" y="24033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18" name="Text Box 106"/>
          <p:cNvSpPr txBox="1">
            <a:spLocks noChangeArrowheads="1"/>
          </p:cNvSpPr>
          <p:nvPr/>
        </p:nvSpPr>
        <p:spPr bwMode="auto">
          <a:xfrm>
            <a:off x="2469704" y="24033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58219" name="Text Box 107"/>
          <p:cNvSpPr txBox="1">
            <a:spLocks noChangeArrowheads="1"/>
          </p:cNvSpPr>
          <p:nvPr/>
        </p:nvSpPr>
        <p:spPr bwMode="auto">
          <a:xfrm>
            <a:off x="3384104" y="52989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58220" name="Text Box 108"/>
          <p:cNvSpPr txBox="1">
            <a:spLocks noChangeArrowheads="1"/>
          </p:cNvSpPr>
          <p:nvPr/>
        </p:nvSpPr>
        <p:spPr bwMode="auto">
          <a:xfrm>
            <a:off x="2622104" y="52989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8221" name="Text Box 109"/>
          <p:cNvSpPr txBox="1">
            <a:spLocks noChangeArrowheads="1"/>
          </p:cNvSpPr>
          <p:nvPr/>
        </p:nvSpPr>
        <p:spPr bwMode="auto">
          <a:xfrm>
            <a:off x="945704" y="36987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8222" name="Text Box 110"/>
          <p:cNvSpPr txBox="1">
            <a:spLocks noChangeArrowheads="1"/>
          </p:cNvSpPr>
          <p:nvPr/>
        </p:nvSpPr>
        <p:spPr bwMode="auto">
          <a:xfrm>
            <a:off x="164654" y="3698776"/>
            <a:ext cx="381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58223" name="Text Box 111"/>
          <p:cNvSpPr txBox="1">
            <a:spLocks noChangeArrowheads="1"/>
          </p:cNvSpPr>
          <p:nvPr/>
        </p:nvSpPr>
        <p:spPr bwMode="auto">
          <a:xfrm>
            <a:off x="0" y="6084888"/>
            <a:ext cx="3437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CP:A-&gt;E-&gt;C-&gt;D-&gt;G</a:t>
            </a:r>
          </a:p>
        </p:txBody>
      </p:sp>
      <p:sp>
        <p:nvSpPr>
          <p:cNvPr id="858225" name="Text Box 113"/>
          <p:cNvSpPr txBox="1">
            <a:spLocks noChangeArrowheads="1"/>
          </p:cNvSpPr>
          <p:nvPr/>
        </p:nvSpPr>
        <p:spPr bwMode="auto">
          <a:xfrm>
            <a:off x="3417948" y="607141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 Path:27</a:t>
            </a:r>
          </a:p>
        </p:txBody>
      </p:sp>
      <p:sp>
        <p:nvSpPr>
          <p:cNvPr id="858226" name="Text Box 114"/>
          <p:cNvSpPr txBox="1">
            <a:spLocks noChangeArrowheads="1"/>
          </p:cNvSpPr>
          <p:nvPr/>
        </p:nvSpPr>
        <p:spPr bwMode="auto">
          <a:xfrm>
            <a:off x="7010400" y="6064280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FF(F)=4</a:t>
            </a:r>
          </a:p>
        </p:txBody>
      </p:sp>
      <p:sp>
        <p:nvSpPr>
          <p:cNvPr id="858227" name="Text Box 115"/>
          <p:cNvSpPr txBox="1">
            <a:spLocks noChangeArrowheads="1"/>
          </p:cNvSpPr>
          <p:nvPr/>
        </p:nvSpPr>
        <p:spPr bwMode="auto">
          <a:xfrm>
            <a:off x="5441212" y="6057948"/>
            <a:ext cx="2133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TF(F)=4</a:t>
            </a:r>
          </a:p>
        </p:txBody>
      </p:sp>
      <p:sp>
        <p:nvSpPr>
          <p:cNvPr id="114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课堂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练习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-</a:t>
            </a:r>
            <a:r>
              <a:rPr kumimoji="1" lang="zh-CN" altLang="en-US" sz="2800" b="1" dirty="0" smtClean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答案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  <p:sp>
        <p:nvSpPr>
          <p:cNvPr id="120" name="Line 79"/>
          <p:cNvSpPr>
            <a:spLocks noChangeShapeType="1"/>
          </p:cNvSpPr>
          <p:nvPr/>
        </p:nvSpPr>
        <p:spPr bwMode="auto">
          <a:xfrm>
            <a:off x="1372884" y="3778251"/>
            <a:ext cx="1163354" cy="1343339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" name="Line 76"/>
          <p:cNvSpPr>
            <a:spLocks noChangeShapeType="1"/>
          </p:cNvSpPr>
          <p:nvPr/>
        </p:nvSpPr>
        <p:spPr bwMode="auto">
          <a:xfrm>
            <a:off x="7333429" y="1944429"/>
            <a:ext cx="1131778" cy="958762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" name="Line 76"/>
          <p:cNvSpPr>
            <a:spLocks noChangeShapeType="1"/>
          </p:cNvSpPr>
          <p:nvPr/>
        </p:nvSpPr>
        <p:spPr bwMode="auto">
          <a:xfrm>
            <a:off x="5528121" y="2090927"/>
            <a:ext cx="536878" cy="98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" name="Line 76"/>
          <p:cNvSpPr>
            <a:spLocks noChangeShapeType="1"/>
          </p:cNvSpPr>
          <p:nvPr/>
        </p:nvSpPr>
        <p:spPr bwMode="auto">
          <a:xfrm flipV="1">
            <a:off x="3168499" y="2403299"/>
            <a:ext cx="1115392" cy="2160828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1910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95" grpId="0" autoUpdateAnimBg="0"/>
      <p:bldP spid="858196" grpId="0" autoUpdateAnimBg="0"/>
      <p:bldP spid="858197" grpId="0" autoUpdateAnimBg="0"/>
      <p:bldP spid="858198" grpId="0" autoUpdateAnimBg="0"/>
      <p:bldP spid="858199" grpId="0" autoUpdateAnimBg="0"/>
      <p:bldP spid="858200" grpId="0" autoUpdateAnimBg="0"/>
      <p:bldP spid="858201" grpId="0" autoUpdateAnimBg="0"/>
      <p:bldP spid="858202" grpId="0" autoUpdateAnimBg="0"/>
      <p:bldP spid="858203" grpId="0" autoUpdateAnimBg="0"/>
      <p:bldP spid="858205" grpId="0" autoUpdateAnimBg="0"/>
      <p:bldP spid="858206" grpId="0" autoUpdateAnimBg="0"/>
      <p:bldP spid="858207" grpId="0" autoUpdateAnimBg="0"/>
      <p:bldP spid="858208" grpId="0" autoUpdateAnimBg="0"/>
      <p:bldP spid="858209" grpId="0" autoUpdateAnimBg="0"/>
      <p:bldP spid="858210" grpId="0" autoUpdateAnimBg="0"/>
      <p:bldP spid="858211" grpId="0" autoUpdateAnimBg="0"/>
      <p:bldP spid="858212" grpId="0" autoUpdateAnimBg="0"/>
      <p:bldP spid="858213" grpId="0" autoUpdateAnimBg="0"/>
      <p:bldP spid="858214" grpId="0" autoUpdateAnimBg="0"/>
      <p:bldP spid="858215" grpId="0" autoUpdateAnimBg="0"/>
      <p:bldP spid="858216" grpId="0" autoUpdateAnimBg="0"/>
      <p:bldP spid="858217" grpId="0" autoUpdateAnimBg="0"/>
      <p:bldP spid="858218" grpId="0" autoUpdateAnimBg="0"/>
      <p:bldP spid="858219" grpId="0" autoUpdateAnimBg="0"/>
      <p:bldP spid="858220" grpId="0" autoUpdateAnimBg="0"/>
      <p:bldP spid="858221" grpId="0" autoUpdateAnimBg="0"/>
      <p:bldP spid="858222" grpId="0" autoUpdateAnimBg="0"/>
      <p:bldP spid="858223" grpId="0" autoUpdateAnimBg="0"/>
      <p:bldP spid="858225" grpId="0" autoUpdateAnimBg="0"/>
      <p:bldP spid="858226" grpId="0" autoUpdateAnimBg="0"/>
      <p:bldP spid="858227" grpId="0" autoUpdateAnimBg="0"/>
      <p:bldP spid="120" grpId="0" animBg="1"/>
      <p:bldP spid="121" grpId="0" animBg="1"/>
      <p:bldP spid="122" grpId="0" animBg="1"/>
      <p:bldP spid="1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1035474" y="3671946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1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2332452" y="2603335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2337504" y="3681056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343256" y="4650494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4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864576" y="2607448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864576" y="3681600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864576" y="4650494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7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292080" y="3681056"/>
            <a:ext cx="504056" cy="504000"/>
          </a:xfrm>
          <a:prstGeom prst="ellipse">
            <a:avLst/>
          </a:prstGeom>
          <a:solidFill>
            <a:srgbClr val="94B6D2">
              <a:lumMod val="20000"/>
              <a:lumOff val="80000"/>
            </a:srgbClr>
          </a:solidFill>
          <a:ln w="19050" cap="flat" cmpd="sng" algn="ctr">
            <a:solidFill>
              <a:srgbClr val="94B6D2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rPr>
              <a:t>8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465713" y="3033527"/>
            <a:ext cx="940556" cy="712229"/>
            <a:chOff x="1287800" y="2172877"/>
            <a:chExt cx="1269012" cy="1511614"/>
          </a:xfrm>
        </p:grpSpPr>
        <p:cxnSp>
          <p:nvCxnSpPr>
            <p:cNvPr id="54" name="直接箭头连接符 53"/>
            <p:cNvCxnSpPr>
              <a:stCxn id="45" idx="7"/>
              <a:endCxn id="46" idx="3"/>
            </p:cNvCxnSpPr>
            <p:nvPr/>
          </p:nvCxnSpPr>
          <p:spPr>
            <a:xfrm flipV="1">
              <a:off x="1287799" y="2172879"/>
              <a:ext cx="1269011" cy="1511614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5" name="矩形 54"/>
            <p:cNvSpPr/>
            <p:nvPr/>
          </p:nvSpPr>
          <p:spPr>
            <a:xfrm rot="19246749">
              <a:off x="1473754" y="2526636"/>
              <a:ext cx="721889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A:2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368630" y="4111247"/>
            <a:ext cx="997265" cy="791247"/>
            <a:chOff x="-2764732" y="2194391"/>
            <a:chExt cx="1345523" cy="1064165"/>
          </a:xfrm>
        </p:grpSpPr>
        <p:cxnSp>
          <p:nvCxnSpPr>
            <p:cNvPr id="57" name="直接箭头连接符 56"/>
            <p:cNvCxnSpPr>
              <a:stCxn id="51" idx="6"/>
              <a:endCxn id="52" idx="3"/>
            </p:cNvCxnSpPr>
            <p:nvPr/>
          </p:nvCxnSpPr>
          <p:spPr>
            <a:xfrm flipV="1">
              <a:off x="-2764731" y="2194391"/>
              <a:ext cx="1345523" cy="1064165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8" name="矩形 57"/>
            <p:cNvSpPr/>
            <p:nvPr/>
          </p:nvSpPr>
          <p:spPr>
            <a:xfrm rot="19292984">
              <a:off x="-2524281" y="2453615"/>
              <a:ext cx="721888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I:1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465713" y="4102137"/>
            <a:ext cx="877543" cy="800357"/>
            <a:chOff x="1474695" y="1624826"/>
            <a:chExt cx="1183991" cy="1076417"/>
          </a:xfrm>
        </p:grpSpPr>
        <p:cxnSp>
          <p:nvCxnSpPr>
            <p:cNvPr id="60" name="直接箭头连接符 59"/>
            <p:cNvCxnSpPr>
              <a:stCxn id="45" idx="5"/>
              <a:endCxn id="48" idx="2"/>
            </p:cNvCxnSpPr>
            <p:nvPr/>
          </p:nvCxnSpPr>
          <p:spPr>
            <a:xfrm>
              <a:off x="1474694" y="1624824"/>
              <a:ext cx="1183991" cy="1076417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1" name="矩形 60"/>
            <p:cNvSpPr/>
            <p:nvPr/>
          </p:nvSpPr>
          <p:spPr>
            <a:xfrm rot="2589220">
              <a:off x="1801992" y="1852223"/>
              <a:ext cx="721889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C:1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539530" y="3696146"/>
            <a:ext cx="797974" cy="236912"/>
            <a:chOff x="1820303" y="2535399"/>
            <a:chExt cx="874323" cy="318545"/>
          </a:xfrm>
        </p:grpSpPr>
        <p:cxnSp>
          <p:nvCxnSpPr>
            <p:cNvPr id="63" name="直接箭头连接符 62"/>
            <p:cNvCxnSpPr>
              <a:stCxn id="45" idx="6"/>
              <a:endCxn id="47" idx="2"/>
            </p:cNvCxnSpPr>
            <p:nvPr/>
          </p:nvCxnSpPr>
          <p:spPr>
            <a:xfrm>
              <a:off x="1820316" y="2841787"/>
              <a:ext cx="874323" cy="12252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4" name="矩形 63"/>
            <p:cNvSpPr/>
            <p:nvPr/>
          </p:nvSpPr>
          <p:spPr>
            <a:xfrm>
              <a:off x="1907350" y="2535399"/>
              <a:ext cx="721888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B:5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2841562" y="3708498"/>
            <a:ext cx="1023016" cy="225102"/>
            <a:chOff x="1511718" y="2530452"/>
            <a:chExt cx="1120894" cy="302740"/>
          </a:xfrm>
        </p:grpSpPr>
        <p:cxnSp>
          <p:nvCxnSpPr>
            <p:cNvPr id="66" name="直接箭头连接符 65"/>
            <p:cNvCxnSpPr>
              <a:stCxn id="47" idx="6"/>
              <a:endCxn id="50" idx="2"/>
            </p:cNvCxnSpPr>
            <p:nvPr/>
          </p:nvCxnSpPr>
          <p:spPr>
            <a:xfrm>
              <a:off x="1511718" y="2832467"/>
              <a:ext cx="1120894" cy="732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7" name="矩形 66"/>
            <p:cNvSpPr/>
            <p:nvPr/>
          </p:nvSpPr>
          <p:spPr>
            <a:xfrm>
              <a:off x="1744373" y="2530452"/>
              <a:ext cx="637679" cy="290461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E:6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836506" y="2603337"/>
            <a:ext cx="1028068" cy="256114"/>
            <a:chOff x="1830927" y="2548932"/>
            <a:chExt cx="762755" cy="393610"/>
          </a:xfrm>
        </p:grpSpPr>
        <p:cxnSp>
          <p:nvCxnSpPr>
            <p:cNvPr id="69" name="直接箭头连接符 68"/>
            <p:cNvCxnSpPr>
              <a:stCxn id="46" idx="6"/>
              <a:endCxn id="49" idx="2"/>
            </p:cNvCxnSpPr>
            <p:nvPr/>
          </p:nvCxnSpPr>
          <p:spPr>
            <a:xfrm>
              <a:off x="1830928" y="2936224"/>
              <a:ext cx="762755" cy="6321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0" name="矩形 69"/>
            <p:cNvSpPr/>
            <p:nvPr/>
          </p:nvSpPr>
          <p:spPr>
            <a:xfrm>
              <a:off x="2050045" y="2548932"/>
              <a:ext cx="388622" cy="367076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D:2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 rot="5400000" flipH="1">
            <a:off x="3244982" y="4282899"/>
            <a:ext cx="221925" cy="1017264"/>
            <a:chOff x="881557" y="2882793"/>
            <a:chExt cx="619208" cy="368374"/>
          </a:xfrm>
        </p:grpSpPr>
        <p:cxnSp>
          <p:nvCxnSpPr>
            <p:cNvPr id="72" name="直接箭头连接符 71"/>
            <p:cNvCxnSpPr>
              <a:stCxn id="48" idx="6"/>
              <a:endCxn id="51" idx="2"/>
            </p:cNvCxnSpPr>
            <p:nvPr/>
          </p:nvCxnSpPr>
          <p:spPr>
            <a:xfrm rot="5400000" flipH="1">
              <a:off x="697367" y="3066978"/>
              <a:ext cx="368374" cy="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3" name="矩形 72"/>
            <p:cNvSpPr/>
            <p:nvPr/>
          </p:nvSpPr>
          <p:spPr>
            <a:xfrm rot="5400000">
              <a:off x="1095277" y="2762509"/>
              <a:ext cx="215755" cy="595221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F:1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404314" y="3107336"/>
            <a:ext cx="677327" cy="573721"/>
            <a:chOff x="1126373" y="2518775"/>
            <a:chExt cx="721890" cy="1184529"/>
          </a:xfrm>
        </p:grpSpPr>
        <p:cxnSp>
          <p:nvCxnSpPr>
            <p:cNvPr id="75" name="直接箭头连接符 74"/>
            <p:cNvCxnSpPr>
              <a:stCxn id="47" idx="0"/>
              <a:endCxn id="46" idx="4"/>
            </p:cNvCxnSpPr>
            <p:nvPr/>
          </p:nvCxnSpPr>
          <p:spPr>
            <a:xfrm flipH="1" flipV="1">
              <a:off x="1318393" y="2518773"/>
              <a:ext cx="5384" cy="1184529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6" name="矩形 75"/>
            <p:cNvSpPr/>
            <p:nvPr/>
          </p:nvSpPr>
          <p:spPr>
            <a:xfrm>
              <a:off x="1126373" y="3001949"/>
              <a:ext cx="721890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J:7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966681" y="3111448"/>
            <a:ext cx="677327" cy="570152"/>
            <a:chOff x="1126373" y="2630557"/>
            <a:chExt cx="721890" cy="1177160"/>
          </a:xfrm>
        </p:grpSpPr>
        <p:cxnSp>
          <p:nvCxnSpPr>
            <p:cNvPr id="78" name="直接箭头连接符 77"/>
            <p:cNvCxnSpPr>
              <a:stCxn id="50" idx="0"/>
              <a:endCxn id="49" idx="4"/>
            </p:cNvCxnSpPr>
            <p:nvPr/>
          </p:nvCxnSpPr>
          <p:spPr>
            <a:xfrm flipV="1">
              <a:off x="1286160" y="2630555"/>
              <a:ext cx="0" cy="1177160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9" name="矩形 78"/>
            <p:cNvSpPr/>
            <p:nvPr/>
          </p:nvSpPr>
          <p:spPr>
            <a:xfrm>
              <a:off x="1126373" y="3090051"/>
              <a:ext cx="721890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K:2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368631" y="3698429"/>
            <a:ext cx="923448" cy="235166"/>
            <a:chOff x="1154277" y="2519452"/>
            <a:chExt cx="1011802" cy="316431"/>
          </a:xfrm>
        </p:grpSpPr>
        <p:cxnSp>
          <p:nvCxnSpPr>
            <p:cNvPr id="81" name="直接箭头连接符 80"/>
            <p:cNvCxnSpPr>
              <a:stCxn id="50" idx="6"/>
              <a:endCxn id="52" idx="2"/>
            </p:cNvCxnSpPr>
            <p:nvPr/>
          </p:nvCxnSpPr>
          <p:spPr>
            <a:xfrm flipV="1">
              <a:off x="1154278" y="2834995"/>
              <a:ext cx="1011802" cy="732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82" name="矩形 81"/>
            <p:cNvSpPr/>
            <p:nvPr/>
          </p:nvSpPr>
          <p:spPr>
            <a:xfrm>
              <a:off x="1377105" y="2519452"/>
              <a:ext cx="637679" cy="290462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H:7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 rot="3657236">
            <a:off x="4419559" y="2808522"/>
            <a:ext cx="895417" cy="997265"/>
            <a:chOff x="210210" y="2861537"/>
            <a:chExt cx="1234356" cy="790411"/>
          </a:xfrm>
        </p:grpSpPr>
        <p:cxnSp>
          <p:nvCxnSpPr>
            <p:cNvPr id="84" name="直接箭头连接符 83"/>
            <p:cNvCxnSpPr>
              <a:stCxn id="49" idx="6"/>
              <a:endCxn id="52" idx="1"/>
            </p:cNvCxnSpPr>
            <p:nvPr/>
          </p:nvCxnSpPr>
          <p:spPr>
            <a:xfrm rot="17942764">
              <a:off x="432188" y="2639562"/>
              <a:ext cx="790411" cy="1234356"/>
            </a:xfrm>
            <a:prstGeom prst="straightConnector1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85" name="矩形 84"/>
            <p:cNvSpPr/>
            <p:nvPr/>
          </p:nvSpPr>
          <p:spPr>
            <a:xfrm rot="20491559">
              <a:off x="397339" y="2999093"/>
              <a:ext cx="721890" cy="29413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仿宋" panose="02010600040101010101" pitchFamily="2" charset="-122"/>
                  <a:cs typeface="Times New Roman" panose="02020603050405020304" pitchFamily="18" charset="0"/>
                </a:rPr>
                <a:t>G:2</a:t>
              </a:r>
              <a:endPara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6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增加</a:t>
            </a:r>
            <a:r>
              <a:rPr kumimoji="1" lang="en-US" altLang="zh-CN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1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个练习题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046632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Line 79"/>
          <p:cNvSpPr>
            <a:spLocks noChangeShapeType="1"/>
          </p:cNvSpPr>
          <p:nvPr/>
        </p:nvSpPr>
        <p:spPr bwMode="auto">
          <a:xfrm>
            <a:off x="657280" y="3426000"/>
            <a:ext cx="623338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Line 76"/>
          <p:cNvSpPr>
            <a:spLocks noChangeShapeType="1"/>
          </p:cNvSpPr>
          <p:nvPr/>
        </p:nvSpPr>
        <p:spPr bwMode="auto">
          <a:xfrm flipV="1">
            <a:off x="6118514" y="3137540"/>
            <a:ext cx="2347723" cy="1575003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76"/>
          <p:cNvSpPr>
            <a:spLocks noChangeShapeType="1"/>
          </p:cNvSpPr>
          <p:nvPr/>
        </p:nvSpPr>
        <p:spPr bwMode="auto">
          <a:xfrm>
            <a:off x="4294744" y="3964347"/>
            <a:ext cx="631017" cy="802909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76"/>
          <p:cNvSpPr>
            <a:spLocks noChangeShapeType="1"/>
          </p:cNvSpPr>
          <p:nvPr/>
        </p:nvSpPr>
        <p:spPr bwMode="auto">
          <a:xfrm>
            <a:off x="2467494" y="3532060"/>
            <a:ext cx="610085" cy="322477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5" name="Line 75"/>
          <p:cNvSpPr>
            <a:spLocks noChangeShapeType="1"/>
          </p:cNvSpPr>
          <p:nvPr/>
        </p:nvSpPr>
        <p:spPr bwMode="auto">
          <a:xfrm>
            <a:off x="660963" y="3363945"/>
            <a:ext cx="585856" cy="182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6" name="Line 76"/>
          <p:cNvSpPr>
            <a:spLocks noChangeShapeType="1"/>
          </p:cNvSpPr>
          <p:nvPr/>
        </p:nvSpPr>
        <p:spPr bwMode="auto">
          <a:xfrm flipV="1">
            <a:off x="680968" y="1830585"/>
            <a:ext cx="574186" cy="14308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9" name="Line 79"/>
          <p:cNvSpPr>
            <a:spLocks noChangeShapeType="1"/>
          </p:cNvSpPr>
          <p:nvPr/>
        </p:nvSpPr>
        <p:spPr bwMode="auto">
          <a:xfrm>
            <a:off x="651475" y="3373889"/>
            <a:ext cx="623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40" name="Line 80"/>
          <p:cNvSpPr>
            <a:spLocks noChangeShapeType="1"/>
          </p:cNvSpPr>
          <p:nvPr/>
        </p:nvSpPr>
        <p:spPr bwMode="auto">
          <a:xfrm flipV="1">
            <a:off x="2433770" y="1714793"/>
            <a:ext cx="2484519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3" name="Line 76"/>
          <p:cNvSpPr>
            <a:spLocks noChangeShapeType="1"/>
          </p:cNvSpPr>
          <p:nvPr/>
        </p:nvSpPr>
        <p:spPr bwMode="auto">
          <a:xfrm flipV="1">
            <a:off x="7978451" y="3190315"/>
            <a:ext cx="481979" cy="2036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" name="Line 76"/>
          <p:cNvSpPr>
            <a:spLocks noChangeShapeType="1"/>
          </p:cNvSpPr>
          <p:nvPr/>
        </p:nvSpPr>
        <p:spPr bwMode="auto">
          <a:xfrm>
            <a:off x="7951810" y="2263069"/>
            <a:ext cx="508621" cy="70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" name="Line 76"/>
          <p:cNvSpPr>
            <a:spLocks noChangeShapeType="1"/>
          </p:cNvSpPr>
          <p:nvPr/>
        </p:nvSpPr>
        <p:spPr bwMode="auto">
          <a:xfrm>
            <a:off x="6162402" y="1812861"/>
            <a:ext cx="579785" cy="341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" name="Line 76"/>
          <p:cNvSpPr>
            <a:spLocks noChangeShapeType="1"/>
          </p:cNvSpPr>
          <p:nvPr/>
        </p:nvSpPr>
        <p:spPr bwMode="auto">
          <a:xfrm flipV="1">
            <a:off x="6154552" y="2340851"/>
            <a:ext cx="556122" cy="8436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7" name="Line 76"/>
          <p:cNvSpPr>
            <a:spLocks noChangeShapeType="1"/>
          </p:cNvSpPr>
          <p:nvPr/>
        </p:nvSpPr>
        <p:spPr bwMode="auto">
          <a:xfrm flipV="1">
            <a:off x="6112709" y="3075269"/>
            <a:ext cx="2347723" cy="157500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8" name="Line 76"/>
          <p:cNvSpPr>
            <a:spLocks noChangeShapeType="1"/>
          </p:cNvSpPr>
          <p:nvPr/>
        </p:nvSpPr>
        <p:spPr bwMode="auto">
          <a:xfrm flipV="1">
            <a:off x="4319232" y="5409979"/>
            <a:ext cx="2396316" cy="45126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" name="Line 76"/>
          <p:cNvSpPr>
            <a:spLocks noChangeShapeType="1"/>
          </p:cNvSpPr>
          <p:nvPr/>
        </p:nvSpPr>
        <p:spPr bwMode="auto">
          <a:xfrm>
            <a:off x="4291479" y="3884296"/>
            <a:ext cx="631017" cy="8029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0" name="Line 76"/>
          <p:cNvSpPr>
            <a:spLocks noChangeShapeType="1"/>
          </p:cNvSpPr>
          <p:nvPr/>
        </p:nvSpPr>
        <p:spPr bwMode="auto">
          <a:xfrm flipV="1">
            <a:off x="4232007" y="3292352"/>
            <a:ext cx="684830" cy="4986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" name="Line 76"/>
          <p:cNvSpPr>
            <a:spLocks noChangeShapeType="1"/>
          </p:cNvSpPr>
          <p:nvPr/>
        </p:nvSpPr>
        <p:spPr bwMode="auto">
          <a:xfrm flipV="1">
            <a:off x="4219829" y="2009284"/>
            <a:ext cx="725099" cy="3845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2" name="Line 76"/>
          <p:cNvSpPr>
            <a:spLocks noChangeShapeType="1"/>
          </p:cNvSpPr>
          <p:nvPr/>
        </p:nvSpPr>
        <p:spPr bwMode="auto">
          <a:xfrm>
            <a:off x="2463802" y="5125424"/>
            <a:ext cx="607896" cy="67347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3" name="Line 76"/>
          <p:cNvSpPr>
            <a:spLocks noChangeShapeType="1"/>
          </p:cNvSpPr>
          <p:nvPr/>
        </p:nvSpPr>
        <p:spPr bwMode="auto">
          <a:xfrm>
            <a:off x="2457879" y="3476088"/>
            <a:ext cx="610085" cy="3224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4" name="Line 76"/>
          <p:cNvSpPr>
            <a:spLocks noChangeShapeType="1"/>
          </p:cNvSpPr>
          <p:nvPr/>
        </p:nvSpPr>
        <p:spPr bwMode="auto">
          <a:xfrm flipV="1">
            <a:off x="2445947" y="2436984"/>
            <a:ext cx="599111" cy="88396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58998" y="1268761"/>
            <a:ext cx="1264256" cy="1283069"/>
            <a:chOff x="1258998" y="1268761"/>
            <a:chExt cx="1264256" cy="128306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8998" y="1268761"/>
              <a:ext cx="1264256" cy="1283069"/>
            </a:xfrm>
            <a:prstGeom prst="rect">
              <a:avLst/>
            </a:prstGeom>
          </p:spPr>
        </p:pic>
        <p:sp>
          <p:nvSpPr>
            <p:cNvPr id="123" name="Rectangle 30"/>
            <p:cNvSpPr>
              <a:spLocks noChangeArrowheads="1"/>
            </p:cNvSpPr>
            <p:nvPr/>
          </p:nvSpPr>
          <p:spPr bwMode="auto">
            <a:xfrm>
              <a:off x="1348482" y="170824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A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918931" y="4108523"/>
            <a:ext cx="1264256" cy="1283069"/>
            <a:chOff x="4918931" y="4108523"/>
            <a:chExt cx="1264256" cy="1283069"/>
          </a:xfrm>
        </p:grpSpPr>
        <p:pic>
          <p:nvPicPr>
            <p:cNvPr id="133" name="图片 13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8931" y="4108523"/>
              <a:ext cx="1264256" cy="1283069"/>
            </a:xfrm>
            <a:prstGeom prst="rect">
              <a:avLst/>
            </a:prstGeom>
          </p:spPr>
        </p:pic>
        <p:sp>
          <p:nvSpPr>
            <p:cNvPr id="135" name="Rectangle 30"/>
            <p:cNvSpPr>
              <a:spLocks noChangeArrowheads="1"/>
            </p:cNvSpPr>
            <p:nvPr/>
          </p:nvSpPr>
          <p:spPr bwMode="auto">
            <a:xfrm>
              <a:off x="5008415" y="4548003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23163" y="2722907"/>
            <a:ext cx="1264256" cy="1283069"/>
            <a:chOff x="4923163" y="2722907"/>
            <a:chExt cx="1264256" cy="1283069"/>
          </a:xfrm>
        </p:grpSpPr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23163" y="2722907"/>
              <a:ext cx="1264256" cy="1283069"/>
            </a:xfrm>
            <a:prstGeom prst="rect">
              <a:avLst/>
            </a:prstGeom>
          </p:spPr>
        </p:pic>
        <p:sp>
          <p:nvSpPr>
            <p:cNvPr id="142" name="Rectangle 30"/>
            <p:cNvSpPr>
              <a:spLocks noChangeArrowheads="1"/>
            </p:cNvSpPr>
            <p:nvPr/>
          </p:nvSpPr>
          <p:spPr bwMode="auto">
            <a:xfrm>
              <a:off x="5012647" y="3162387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051383" y="5143812"/>
            <a:ext cx="1264256" cy="1283069"/>
            <a:chOff x="3051383" y="5143812"/>
            <a:chExt cx="1264256" cy="1283069"/>
          </a:xfrm>
        </p:grpSpPr>
        <p:pic>
          <p:nvPicPr>
            <p:cNvPr id="147" name="图片 146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51383" y="5143812"/>
              <a:ext cx="1264256" cy="1283069"/>
            </a:xfrm>
            <a:prstGeom prst="rect">
              <a:avLst/>
            </a:prstGeom>
          </p:spPr>
        </p:pic>
        <p:sp>
          <p:nvSpPr>
            <p:cNvPr id="149" name="Rectangle 30"/>
            <p:cNvSpPr>
              <a:spLocks noChangeArrowheads="1"/>
            </p:cNvSpPr>
            <p:nvPr/>
          </p:nvSpPr>
          <p:spPr bwMode="auto">
            <a:xfrm>
              <a:off x="3140867" y="5583292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059832" y="3214366"/>
            <a:ext cx="1264256" cy="1283069"/>
            <a:chOff x="3045058" y="3214366"/>
            <a:chExt cx="1264256" cy="1283069"/>
          </a:xfrm>
        </p:grpSpPr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45058" y="3214366"/>
              <a:ext cx="1264256" cy="1283069"/>
            </a:xfrm>
            <a:prstGeom prst="rect">
              <a:avLst/>
            </a:prstGeom>
          </p:spPr>
        </p:pic>
        <p:sp>
          <p:nvSpPr>
            <p:cNvPr id="156" name="Rectangle 30"/>
            <p:cNvSpPr>
              <a:spLocks noChangeArrowheads="1"/>
            </p:cNvSpPr>
            <p:nvPr/>
          </p:nvSpPr>
          <p:spPr bwMode="auto">
            <a:xfrm>
              <a:off x="3134542" y="365384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Duration=6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51383" y="1830586"/>
            <a:ext cx="1264256" cy="1283069"/>
            <a:chOff x="3051383" y="1830586"/>
            <a:chExt cx="1264256" cy="1283069"/>
          </a:xfrm>
        </p:grpSpPr>
        <p:pic>
          <p:nvPicPr>
            <p:cNvPr id="161" name="图片 160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51383" y="1830586"/>
              <a:ext cx="1264256" cy="1283069"/>
            </a:xfrm>
            <a:prstGeom prst="rect">
              <a:avLst/>
            </a:prstGeom>
          </p:spPr>
        </p:pic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3140867" y="227006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48172" y="4515826"/>
            <a:ext cx="1264256" cy="1283069"/>
            <a:chOff x="1248172" y="4515826"/>
            <a:chExt cx="1264256" cy="1283069"/>
          </a:xfrm>
        </p:grpSpPr>
        <p:pic>
          <p:nvPicPr>
            <p:cNvPr id="168" name="图片 167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48172" y="4515826"/>
              <a:ext cx="1264256" cy="1283069"/>
            </a:xfrm>
            <a:prstGeom prst="rect">
              <a:avLst/>
            </a:prstGeom>
          </p:spPr>
        </p:pic>
        <p:sp>
          <p:nvSpPr>
            <p:cNvPr id="170" name="Rectangle 30"/>
            <p:cNvSpPr>
              <a:spLocks noChangeArrowheads="1"/>
            </p:cNvSpPr>
            <p:nvPr/>
          </p:nvSpPr>
          <p:spPr bwMode="auto">
            <a:xfrm>
              <a:off x="1337656" y="495530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C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58998" y="2759294"/>
            <a:ext cx="1264256" cy="1283069"/>
            <a:chOff x="1258998" y="2759294"/>
            <a:chExt cx="1264256" cy="1283069"/>
          </a:xfrm>
        </p:grpSpPr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8998" y="2759294"/>
              <a:ext cx="1264256" cy="1283069"/>
            </a:xfrm>
            <a:prstGeom prst="rect">
              <a:avLst/>
            </a:prstGeom>
          </p:spPr>
        </p:pic>
        <p:sp>
          <p:nvSpPr>
            <p:cNvPr id="177" name="Rectangle 30"/>
            <p:cNvSpPr>
              <a:spLocks noChangeArrowheads="1"/>
            </p:cNvSpPr>
            <p:nvPr/>
          </p:nvSpPr>
          <p:spPr bwMode="auto">
            <a:xfrm>
              <a:off x="1348482" y="3198774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B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18289" y="1275315"/>
            <a:ext cx="1264256" cy="1283069"/>
            <a:chOff x="4918289" y="1275315"/>
            <a:chExt cx="1264256" cy="1283069"/>
          </a:xfrm>
        </p:grpSpPr>
        <p:pic>
          <p:nvPicPr>
            <p:cNvPr id="182" name="图片 181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8289" y="1275315"/>
              <a:ext cx="1264256" cy="1283069"/>
            </a:xfrm>
            <a:prstGeom prst="rect">
              <a:avLst/>
            </a:prstGeom>
          </p:spPr>
        </p:pic>
        <p:sp>
          <p:nvSpPr>
            <p:cNvPr id="184" name="Rectangle 30"/>
            <p:cNvSpPr>
              <a:spLocks noChangeArrowheads="1"/>
            </p:cNvSpPr>
            <p:nvPr/>
          </p:nvSpPr>
          <p:spPr bwMode="auto">
            <a:xfrm>
              <a:off x="5007773" y="1714795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715548" y="1671063"/>
            <a:ext cx="1264256" cy="1283069"/>
            <a:chOff x="6715548" y="1671063"/>
            <a:chExt cx="1264256" cy="1283069"/>
          </a:xfrm>
        </p:grpSpPr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1671063"/>
              <a:ext cx="1264256" cy="1283069"/>
            </a:xfrm>
            <a:prstGeom prst="rect">
              <a:avLst/>
            </a:prstGeom>
          </p:spPr>
        </p:pic>
        <p:sp>
          <p:nvSpPr>
            <p:cNvPr id="191" name="Rectangle 30"/>
            <p:cNvSpPr>
              <a:spLocks noChangeArrowheads="1"/>
            </p:cNvSpPr>
            <p:nvPr/>
          </p:nvSpPr>
          <p:spPr bwMode="auto">
            <a:xfrm>
              <a:off x="6805032" y="2110543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15548" y="4666211"/>
            <a:ext cx="1264256" cy="1283069"/>
            <a:chOff x="6715548" y="4666211"/>
            <a:chExt cx="1264256" cy="1283069"/>
          </a:xfrm>
        </p:grpSpPr>
        <p:pic>
          <p:nvPicPr>
            <p:cNvPr id="196" name="图片 19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98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113" name="Text Box 84"/>
          <p:cNvSpPr txBox="1">
            <a:spLocks noChangeArrowheads="1"/>
          </p:cNvSpPr>
          <p:nvPr/>
        </p:nvSpPr>
        <p:spPr bwMode="auto">
          <a:xfrm>
            <a:off x="2073946" y="142828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5" name="Text Box 84"/>
          <p:cNvSpPr txBox="1">
            <a:spLocks noChangeArrowheads="1"/>
          </p:cNvSpPr>
          <p:nvPr/>
        </p:nvSpPr>
        <p:spPr bwMode="auto">
          <a:xfrm>
            <a:off x="1290584" y="21445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Text Box 84"/>
          <p:cNvSpPr txBox="1">
            <a:spLocks noChangeArrowheads="1"/>
          </p:cNvSpPr>
          <p:nvPr/>
        </p:nvSpPr>
        <p:spPr bwMode="auto">
          <a:xfrm>
            <a:off x="2076923" y="21445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Text Box 84"/>
          <p:cNvSpPr txBox="1">
            <a:spLocks noChangeArrowheads="1"/>
          </p:cNvSpPr>
          <p:nvPr/>
        </p:nvSpPr>
        <p:spPr bwMode="auto">
          <a:xfrm>
            <a:off x="1285638" y="14320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52578" y="3161597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开始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31" name="流程图: 可选过程 130"/>
          <p:cNvSpPr/>
          <p:nvPr/>
        </p:nvSpPr>
        <p:spPr>
          <a:xfrm>
            <a:off x="8460432" y="2882959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34" name="Text Box 84"/>
          <p:cNvSpPr txBox="1">
            <a:spLocks noChangeArrowheads="1"/>
          </p:cNvSpPr>
          <p:nvPr/>
        </p:nvSpPr>
        <p:spPr bwMode="auto">
          <a:xfrm>
            <a:off x="5733879" y="426804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Text Box 84"/>
          <p:cNvSpPr txBox="1">
            <a:spLocks noChangeArrowheads="1"/>
          </p:cNvSpPr>
          <p:nvPr/>
        </p:nvSpPr>
        <p:spPr bwMode="auto">
          <a:xfrm>
            <a:off x="4950517" y="49842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Text Box 84"/>
          <p:cNvSpPr txBox="1">
            <a:spLocks noChangeArrowheads="1"/>
          </p:cNvSpPr>
          <p:nvPr/>
        </p:nvSpPr>
        <p:spPr bwMode="auto">
          <a:xfrm>
            <a:off x="5736856" y="49842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Text Box 84"/>
          <p:cNvSpPr txBox="1">
            <a:spLocks noChangeArrowheads="1"/>
          </p:cNvSpPr>
          <p:nvPr/>
        </p:nvSpPr>
        <p:spPr bwMode="auto">
          <a:xfrm>
            <a:off x="4945571" y="427185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Text Box 84"/>
          <p:cNvSpPr txBox="1">
            <a:spLocks noChangeArrowheads="1"/>
          </p:cNvSpPr>
          <p:nvPr/>
        </p:nvSpPr>
        <p:spPr bwMode="auto">
          <a:xfrm>
            <a:off x="5738111" y="288243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Text Box 84"/>
          <p:cNvSpPr txBox="1">
            <a:spLocks noChangeArrowheads="1"/>
          </p:cNvSpPr>
          <p:nvPr/>
        </p:nvSpPr>
        <p:spPr bwMode="auto">
          <a:xfrm>
            <a:off x="4954749" y="359867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Text Box 84"/>
          <p:cNvSpPr txBox="1">
            <a:spLocks noChangeArrowheads="1"/>
          </p:cNvSpPr>
          <p:nvPr/>
        </p:nvSpPr>
        <p:spPr bwMode="auto">
          <a:xfrm>
            <a:off x="5741088" y="359867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Text Box 84"/>
          <p:cNvSpPr txBox="1">
            <a:spLocks noChangeArrowheads="1"/>
          </p:cNvSpPr>
          <p:nvPr/>
        </p:nvSpPr>
        <p:spPr bwMode="auto">
          <a:xfrm>
            <a:off x="4949803" y="288624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Text Box 84"/>
          <p:cNvSpPr txBox="1">
            <a:spLocks noChangeArrowheads="1"/>
          </p:cNvSpPr>
          <p:nvPr/>
        </p:nvSpPr>
        <p:spPr bwMode="auto">
          <a:xfrm>
            <a:off x="3866331" y="53033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Text Box 84"/>
          <p:cNvSpPr txBox="1">
            <a:spLocks noChangeArrowheads="1"/>
          </p:cNvSpPr>
          <p:nvPr/>
        </p:nvSpPr>
        <p:spPr bwMode="auto">
          <a:xfrm>
            <a:off x="3082969" y="601957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Text Box 84"/>
          <p:cNvSpPr txBox="1">
            <a:spLocks noChangeArrowheads="1"/>
          </p:cNvSpPr>
          <p:nvPr/>
        </p:nvSpPr>
        <p:spPr bwMode="auto">
          <a:xfrm>
            <a:off x="3869308" y="601957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Text Box 84"/>
          <p:cNvSpPr txBox="1">
            <a:spLocks noChangeArrowheads="1"/>
          </p:cNvSpPr>
          <p:nvPr/>
        </p:nvSpPr>
        <p:spPr bwMode="auto">
          <a:xfrm>
            <a:off x="3078023" y="530714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3860006" y="33738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Text Box 84"/>
          <p:cNvSpPr txBox="1">
            <a:spLocks noChangeArrowheads="1"/>
          </p:cNvSpPr>
          <p:nvPr/>
        </p:nvSpPr>
        <p:spPr bwMode="auto">
          <a:xfrm>
            <a:off x="3076644" y="409013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8" name="Text Box 84"/>
          <p:cNvSpPr txBox="1">
            <a:spLocks noChangeArrowheads="1"/>
          </p:cNvSpPr>
          <p:nvPr/>
        </p:nvSpPr>
        <p:spPr bwMode="auto">
          <a:xfrm>
            <a:off x="3862983" y="409013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Text Box 84"/>
          <p:cNvSpPr txBox="1">
            <a:spLocks noChangeArrowheads="1"/>
          </p:cNvSpPr>
          <p:nvPr/>
        </p:nvSpPr>
        <p:spPr bwMode="auto">
          <a:xfrm>
            <a:off x="3071698" y="337769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Text Box 84"/>
          <p:cNvSpPr txBox="1">
            <a:spLocks noChangeArrowheads="1"/>
          </p:cNvSpPr>
          <p:nvPr/>
        </p:nvSpPr>
        <p:spPr bwMode="auto">
          <a:xfrm>
            <a:off x="3866331" y="199010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Text Box 84"/>
          <p:cNvSpPr txBox="1">
            <a:spLocks noChangeArrowheads="1"/>
          </p:cNvSpPr>
          <p:nvPr/>
        </p:nvSpPr>
        <p:spPr bwMode="auto">
          <a:xfrm>
            <a:off x="3082969" y="270635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65" name="Text Box 84"/>
          <p:cNvSpPr txBox="1">
            <a:spLocks noChangeArrowheads="1"/>
          </p:cNvSpPr>
          <p:nvPr/>
        </p:nvSpPr>
        <p:spPr bwMode="auto">
          <a:xfrm>
            <a:off x="3869308" y="270635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Text Box 84"/>
          <p:cNvSpPr txBox="1">
            <a:spLocks noChangeArrowheads="1"/>
          </p:cNvSpPr>
          <p:nvPr/>
        </p:nvSpPr>
        <p:spPr bwMode="auto">
          <a:xfrm>
            <a:off x="3078023" y="199391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69" name="Text Box 84"/>
          <p:cNvSpPr txBox="1">
            <a:spLocks noChangeArrowheads="1"/>
          </p:cNvSpPr>
          <p:nvPr/>
        </p:nvSpPr>
        <p:spPr bwMode="auto">
          <a:xfrm>
            <a:off x="2063120" y="467534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1" name="Text Box 84"/>
          <p:cNvSpPr txBox="1">
            <a:spLocks noChangeArrowheads="1"/>
          </p:cNvSpPr>
          <p:nvPr/>
        </p:nvSpPr>
        <p:spPr bwMode="auto">
          <a:xfrm>
            <a:off x="1279758" y="53915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2" name="Text Box 84"/>
          <p:cNvSpPr txBox="1">
            <a:spLocks noChangeArrowheads="1"/>
          </p:cNvSpPr>
          <p:nvPr/>
        </p:nvSpPr>
        <p:spPr bwMode="auto">
          <a:xfrm>
            <a:off x="2066097" y="53915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Text Box 84"/>
          <p:cNvSpPr txBox="1">
            <a:spLocks noChangeArrowheads="1"/>
          </p:cNvSpPr>
          <p:nvPr/>
        </p:nvSpPr>
        <p:spPr bwMode="auto">
          <a:xfrm>
            <a:off x="1274812" y="467915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6" name="Text Box 84"/>
          <p:cNvSpPr txBox="1">
            <a:spLocks noChangeArrowheads="1"/>
          </p:cNvSpPr>
          <p:nvPr/>
        </p:nvSpPr>
        <p:spPr bwMode="auto">
          <a:xfrm>
            <a:off x="2073946" y="291881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Text Box 84"/>
          <p:cNvSpPr txBox="1">
            <a:spLocks noChangeArrowheads="1"/>
          </p:cNvSpPr>
          <p:nvPr/>
        </p:nvSpPr>
        <p:spPr bwMode="auto">
          <a:xfrm>
            <a:off x="1290584" y="363506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9" name="Text Box 84"/>
          <p:cNvSpPr txBox="1">
            <a:spLocks noChangeArrowheads="1"/>
          </p:cNvSpPr>
          <p:nvPr/>
        </p:nvSpPr>
        <p:spPr bwMode="auto">
          <a:xfrm>
            <a:off x="2076923" y="363506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Text Box 84"/>
          <p:cNvSpPr txBox="1">
            <a:spLocks noChangeArrowheads="1"/>
          </p:cNvSpPr>
          <p:nvPr/>
        </p:nvSpPr>
        <p:spPr bwMode="auto">
          <a:xfrm>
            <a:off x="1285638" y="29226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Text Box 84"/>
          <p:cNvSpPr txBox="1">
            <a:spLocks noChangeArrowheads="1"/>
          </p:cNvSpPr>
          <p:nvPr/>
        </p:nvSpPr>
        <p:spPr bwMode="auto">
          <a:xfrm>
            <a:off x="5733237" y="14348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5" name="Text Box 84"/>
          <p:cNvSpPr txBox="1">
            <a:spLocks noChangeArrowheads="1"/>
          </p:cNvSpPr>
          <p:nvPr/>
        </p:nvSpPr>
        <p:spPr bwMode="auto">
          <a:xfrm>
            <a:off x="4949875" y="21510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6" name="Text Box 84"/>
          <p:cNvSpPr txBox="1">
            <a:spLocks noChangeArrowheads="1"/>
          </p:cNvSpPr>
          <p:nvPr/>
        </p:nvSpPr>
        <p:spPr bwMode="auto">
          <a:xfrm>
            <a:off x="5736214" y="21510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Text Box 84"/>
          <p:cNvSpPr txBox="1">
            <a:spLocks noChangeArrowheads="1"/>
          </p:cNvSpPr>
          <p:nvPr/>
        </p:nvSpPr>
        <p:spPr bwMode="auto">
          <a:xfrm>
            <a:off x="4944929" y="143864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0" name="Text Box 84"/>
          <p:cNvSpPr txBox="1">
            <a:spLocks noChangeArrowheads="1"/>
          </p:cNvSpPr>
          <p:nvPr/>
        </p:nvSpPr>
        <p:spPr bwMode="auto">
          <a:xfrm>
            <a:off x="7530496" y="183058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Text Box 84"/>
          <p:cNvSpPr txBox="1">
            <a:spLocks noChangeArrowheads="1"/>
          </p:cNvSpPr>
          <p:nvPr/>
        </p:nvSpPr>
        <p:spPr bwMode="auto">
          <a:xfrm>
            <a:off x="6747134" y="254682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Text Box 84"/>
          <p:cNvSpPr txBox="1">
            <a:spLocks noChangeArrowheads="1"/>
          </p:cNvSpPr>
          <p:nvPr/>
        </p:nvSpPr>
        <p:spPr bwMode="auto">
          <a:xfrm>
            <a:off x="7533473" y="254682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" name="Text Box 84"/>
          <p:cNvSpPr txBox="1">
            <a:spLocks noChangeArrowheads="1"/>
          </p:cNvSpPr>
          <p:nvPr/>
        </p:nvSpPr>
        <p:spPr bwMode="auto">
          <a:xfrm>
            <a:off x="6742188" y="183439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" name="Text Box 84"/>
          <p:cNvSpPr txBox="1">
            <a:spLocks noChangeArrowheads="1"/>
          </p:cNvSpPr>
          <p:nvPr/>
        </p:nvSpPr>
        <p:spPr bwMode="auto">
          <a:xfrm>
            <a:off x="7530496" y="48257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" name="Text Box 84"/>
          <p:cNvSpPr txBox="1">
            <a:spLocks noChangeArrowheads="1"/>
          </p:cNvSpPr>
          <p:nvPr/>
        </p:nvSpPr>
        <p:spPr bwMode="auto">
          <a:xfrm>
            <a:off x="6747134" y="554197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Text Box 84"/>
          <p:cNvSpPr txBox="1">
            <a:spLocks noChangeArrowheads="1"/>
          </p:cNvSpPr>
          <p:nvPr/>
        </p:nvSpPr>
        <p:spPr bwMode="auto">
          <a:xfrm>
            <a:off x="7533473" y="554197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1" name="Text Box 84"/>
          <p:cNvSpPr txBox="1">
            <a:spLocks noChangeArrowheads="1"/>
          </p:cNvSpPr>
          <p:nvPr/>
        </p:nvSpPr>
        <p:spPr bwMode="auto">
          <a:xfrm>
            <a:off x="6742188" y="482954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55757"/>
            <a:ext cx="2400686" cy="1311299"/>
          </a:xfrm>
          <a:prstGeom prst="rect">
            <a:avLst/>
          </a:prstGeom>
        </p:spPr>
      </p:pic>
      <p:sp>
        <p:nvSpPr>
          <p:cNvPr id="105" name="Text Box 3163"/>
          <p:cNvSpPr txBox="1">
            <a:spLocks noChangeArrowheads="1"/>
          </p:cNvSpPr>
          <p:nvPr/>
        </p:nvSpPr>
        <p:spPr bwMode="auto">
          <a:xfrm>
            <a:off x="5868145" y="6023577"/>
            <a:ext cx="300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Box 3164"/>
          <p:cNvSpPr txBox="1">
            <a:spLocks noChangeArrowheads="1"/>
          </p:cNvSpPr>
          <p:nvPr/>
        </p:nvSpPr>
        <p:spPr bwMode="auto">
          <a:xfrm>
            <a:off x="5868145" y="6422502"/>
            <a:ext cx="3001962" cy="47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历时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=19-1=18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 Box 3163"/>
          <p:cNvSpPr txBox="1">
            <a:spLocks noChangeArrowheads="1"/>
          </p:cNvSpPr>
          <p:nvPr/>
        </p:nvSpPr>
        <p:spPr bwMode="auto">
          <a:xfrm>
            <a:off x="226478" y="5937425"/>
            <a:ext cx="300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深度优先遍历计算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增加</a:t>
            </a:r>
            <a:r>
              <a:rPr kumimoji="1" lang="en-US" altLang="zh-CN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1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个练习题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5099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500"/>
                            </p:stCondLst>
                            <p:childTnLst>
                              <p:par>
                                <p:cTn id="2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13" grpId="0"/>
      <p:bldP spid="125" grpId="0"/>
      <p:bldP spid="126" grpId="0"/>
      <p:bldP spid="127" grpId="0"/>
      <p:bldP spid="134" grpId="0"/>
      <p:bldP spid="136" grpId="0"/>
      <p:bldP spid="137" grpId="0"/>
      <p:bldP spid="138" grpId="0"/>
      <p:bldP spid="141" grpId="0"/>
      <p:bldP spid="143" grpId="0"/>
      <p:bldP spid="144" grpId="0"/>
      <p:bldP spid="145" grpId="0"/>
      <p:bldP spid="148" grpId="0"/>
      <p:bldP spid="150" grpId="0"/>
      <p:bldP spid="151" grpId="0"/>
      <p:bldP spid="152" grpId="0"/>
      <p:bldP spid="155" grpId="0"/>
      <p:bldP spid="157" grpId="0"/>
      <p:bldP spid="158" grpId="0"/>
      <p:bldP spid="159" grpId="0"/>
      <p:bldP spid="162" grpId="0"/>
      <p:bldP spid="164" grpId="0"/>
      <p:bldP spid="165" grpId="0"/>
      <p:bldP spid="166" grpId="0"/>
      <p:bldP spid="169" grpId="0"/>
      <p:bldP spid="171" grpId="0"/>
      <p:bldP spid="172" grpId="0"/>
      <p:bldP spid="173" grpId="0"/>
      <p:bldP spid="176" grpId="0"/>
      <p:bldP spid="178" grpId="0"/>
      <p:bldP spid="179" grpId="0"/>
      <p:bldP spid="180" grpId="0"/>
      <p:bldP spid="183" grpId="0"/>
      <p:bldP spid="185" grpId="0"/>
      <p:bldP spid="186" grpId="0"/>
      <p:bldP spid="187" grpId="0"/>
      <p:bldP spid="190" grpId="0"/>
      <p:bldP spid="192" grpId="0"/>
      <p:bldP spid="193" grpId="0"/>
      <p:bldP spid="194" grpId="0"/>
      <p:bldP spid="197" grpId="0"/>
      <p:bldP spid="199" grpId="0"/>
      <p:bldP spid="200" grpId="0"/>
      <p:bldP spid="201" grpId="0"/>
      <p:bldP spid="105" grpId="0"/>
      <p:bldP spid="106" grpId="0"/>
      <p:bldP spid="10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52578" y="764704"/>
            <a:ext cx="9046691" cy="576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Line 76"/>
          <p:cNvSpPr>
            <a:spLocks noChangeShapeType="1"/>
          </p:cNvSpPr>
          <p:nvPr/>
        </p:nvSpPr>
        <p:spPr bwMode="auto">
          <a:xfrm>
            <a:off x="7965357" y="2354170"/>
            <a:ext cx="488192" cy="690963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Line 76"/>
          <p:cNvSpPr>
            <a:spLocks noChangeShapeType="1"/>
          </p:cNvSpPr>
          <p:nvPr/>
        </p:nvSpPr>
        <p:spPr bwMode="auto">
          <a:xfrm flipV="1">
            <a:off x="6153099" y="2246390"/>
            <a:ext cx="557576" cy="1070263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79"/>
          <p:cNvSpPr>
            <a:spLocks noChangeShapeType="1"/>
          </p:cNvSpPr>
          <p:nvPr/>
        </p:nvSpPr>
        <p:spPr bwMode="auto">
          <a:xfrm>
            <a:off x="657280" y="3426000"/>
            <a:ext cx="623338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76"/>
          <p:cNvSpPr>
            <a:spLocks noChangeShapeType="1"/>
          </p:cNvSpPr>
          <p:nvPr/>
        </p:nvSpPr>
        <p:spPr bwMode="auto">
          <a:xfrm flipV="1">
            <a:off x="4299316" y="3352142"/>
            <a:ext cx="635518" cy="466168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Line 76"/>
          <p:cNvSpPr>
            <a:spLocks noChangeShapeType="1"/>
          </p:cNvSpPr>
          <p:nvPr/>
        </p:nvSpPr>
        <p:spPr bwMode="auto">
          <a:xfrm>
            <a:off x="2461398" y="3541585"/>
            <a:ext cx="610085" cy="322477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5" name="Line 75"/>
          <p:cNvSpPr>
            <a:spLocks noChangeShapeType="1"/>
          </p:cNvSpPr>
          <p:nvPr/>
        </p:nvSpPr>
        <p:spPr bwMode="auto">
          <a:xfrm>
            <a:off x="660963" y="3363945"/>
            <a:ext cx="585856" cy="182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6" name="Line 76"/>
          <p:cNvSpPr>
            <a:spLocks noChangeShapeType="1"/>
          </p:cNvSpPr>
          <p:nvPr/>
        </p:nvSpPr>
        <p:spPr bwMode="auto">
          <a:xfrm flipV="1">
            <a:off x="680968" y="1830585"/>
            <a:ext cx="574186" cy="14308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39" name="Line 79"/>
          <p:cNvSpPr>
            <a:spLocks noChangeShapeType="1"/>
          </p:cNvSpPr>
          <p:nvPr/>
        </p:nvSpPr>
        <p:spPr bwMode="auto">
          <a:xfrm>
            <a:off x="651475" y="3373889"/>
            <a:ext cx="623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040" name="Line 80"/>
          <p:cNvSpPr>
            <a:spLocks noChangeShapeType="1"/>
          </p:cNvSpPr>
          <p:nvPr/>
        </p:nvSpPr>
        <p:spPr bwMode="auto">
          <a:xfrm flipV="1">
            <a:off x="2433770" y="1714793"/>
            <a:ext cx="2484519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3" name="Line 76"/>
          <p:cNvSpPr>
            <a:spLocks noChangeShapeType="1"/>
          </p:cNvSpPr>
          <p:nvPr/>
        </p:nvSpPr>
        <p:spPr bwMode="auto">
          <a:xfrm flipV="1">
            <a:off x="7978451" y="3190315"/>
            <a:ext cx="481979" cy="2036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" name="Line 76"/>
          <p:cNvSpPr>
            <a:spLocks noChangeShapeType="1"/>
          </p:cNvSpPr>
          <p:nvPr/>
        </p:nvSpPr>
        <p:spPr bwMode="auto">
          <a:xfrm>
            <a:off x="7951810" y="2263069"/>
            <a:ext cx="508621" cy="70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" name="Line 76"/>
          <p:cNvSpPr>
            <a:spLocks noChangeShapeType="1"/>
          </p:cNvSpPr>
          <p:nvPr/>
        </p:nvSpPr>
        <p:spPr bwMode="auto">
          <a:xfrm>
            <a:off x="6162402" y="1812861"/>
            <a:ext cx="579785" cy="341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" name="Line 76"/>
          <p:cNvSpPr>
            <a:spLocks noChangeShapeType="1"/>
          </p:cNvSpPr>
          <p:nvPr/>
        </p:nvSpPr>
        <p:spPr bwMode="auto">
          <a:xfrm flipV="1">
            <a:off x="6160780" y="2340851"/>
            <a:ext cx="549894" cy="10664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7" name="Line 76"/>
          <p:cNvSpPr>
            <a:spLocks noChangeShapeType="1"/>
          </p:cNvSpPr>
          <p:nvPr/>
        </p:nvSpPr>
        <p:spPr bwMode="auto">
          <a:xfrm flipV="1">
            <a:off x="6112709" y="3085429"/>
            <a:ext cx="2347723" cy="157500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8" name="Line 76"/>
          <p:cNvSpPr>
            <a:spLocks noChangeShapeType="1"/>
          </p:cNvSpPr>
          <p:nvPr/>
        </p:nvSpPr>
        <p:spPr bwMode="auto">
          <a:xfrm flipV="1">
            <a:off x="4246796" y="5409979"/>
            <a:ext cx="2480944" cy="4450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9" name="Line 76"/>
          <p:cNvSpPr>
            <a:spLocks noChangeShapeType="1"/>
          </p:cNvSpPr>
          <p:nvPr/>
        </p:nvSpPr>
        <p:spPr bwMode="auto">
          <a:xfrm>
            <a:off x="4281319" y="3904616"/>
            <a:ext cx="631017" cy="8029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0" name="Line 76"/>
          <p:cNvSpPr>
            <a:spLocks noChangeShapeType="1"/>
          </p:cNvSpPr>
          <p:nvPr/>
        </p:nvSpPr>
        <p:spPr bwMode="auto">
          <a:xfrm flipV="1">
            <a:off x="4244199" y="3292352"/>
            <a:ext cx="684830" cy="4986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" name="Line 76"/>
          <p:cNvSpPr>
            <a:spLocks noChangeShapeType="1"/>
          </p:cNvSpPr>
          <p:nvPr/>
        </p:nvSpPr>
        <p:spPr bwMode="auto">
          <a:xfrm flipV="1">
            <a:off x="4219829" y="2009284"/>
            <a:ext cx="725099" cy="3845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2" name="Line 76"/>
          <p:cNvSpPr>
            <a:spLocks noChangeShapeType="1"/>
          </p:cNvSpPr>
          <p:nvPr/>
        </p:nvSpPr>
        <p:spPr bwMode="auto">
          <a:xfrm>
            <a:off x="2463802" y="5125424"/>
            <a:ext cx="607896" cy="67347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3" name="Line 76"/>
          <p:cNvSpPr>
            <a:spLocks noChangeShapeType="1"/>
          </p:cNvSpPr>
          <p:nvPr/>
        </p:nvSpPr>
        <p:spPr bwMode="auto">
          <a:xfrm>
            <a:off x="2455593" y="3489474"/>
            <a:ext cx="610085" cy="3224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4" name="Line 76"/>
          <p:cNvSpPr>
            <a:spLocks noChangeShapeType="1"/>
          </p:cNvSpPr>
          <p:nvPr/>
        </p:nvSpPr>
        <p:spPr bwMode="auto">
          <a:xfrm flipV="1">
            <a:off x="2445947" y="2436984"/>
            <a:ext cx="599111" cy="88396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58998" y="1268761"/>
            <a:ext cx="1264256" cy="1283069"/>
            <a:chOff x="1258998" y="1268761"/>
            <a:chExt cx="1264256" cy="128306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8998" y="1268761"/>
              <a:ext cx="1264256" cy="1283069"/>
            </a:xfrm>
            <a:prstGeom prst="rect">
              <a:avLst/>
            </a:prstGeom>
          </p:spPr>
        </p:pic>
        <p:sp>
          <p:nvSpPr>
            <p:cNvPr id="123" name="Rectangle 30"/>
            <p:cNvSpPr>
              <a:spLocks noChangeArrowheads="1"/>
            </p:cNvSpPr>
            <p:nvPr/>
          </p:nvSpPr>
          <p:spPr bwMode="auto">
            <a:xfrm>
              <a:off x="1348482" y="170824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A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918931" y="4108523"/>
            <a:ext cx="1264256" cy="1283069"/>
            <a:chOff x="4918931" y="4108523"/>
            <a:chExt cx="1264256" cy="1283069"/>
          </a:xfrm>
        </p:grpSpPr>
        <p:pic>
          <p:nvPicPr>
            <p:cNvPr id="133" name="图片 132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8931" y="4108523"/>
              <a:ext cx="1264256" cy="1283069"/>
            </a:xfrm>
            <a:prstGeom prst="rect">
              <a:avLst/>
            </a:prstGeom>
          </p:spPr>
        </p:pic>
        <p:sp>
          <p:nvSpPr>
            <p:cNvPr id="135" name="Rectangle 30"/>
            <p:cNvSpPr>
              <a:spLocks noChangeArrowheads="1"/>
            </p:cNvSpPr>
            <p:nvPr/>
          </p:nvSpPr>
          <p:spPr bwMode="auto">
            <a:xfrm>
              <a:off x="5008415" y="4548003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23163" y="2722907"/>
            <a:ext cx="1264256" cy="1283069"/>
            <a:chOff x="4923163" y="2722907"/>
            <a:chExt cx="1264256" cy="1283069"/>
          </a:xfrm>
        </p:grpSpPr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23163" y="2722907"/>
              <a:ext cx="1264256" cy="1283069"/>
            </a:xfrm>
            <a:prstGeom prst="rect">
              <a:avLst/>
            </a:prstGeom>
          </p:spPr>
        </p:pic>
        <p:sp>
          <p:nvSpPr>
            <p:cNvPr id="142" name="Rectangle 30"/>
            <p:cNvSpPr>
              <a:spLocks noChangeArrowheads="1"/>
            </p:cNvSpPr>
            <p:nvPr/>
          </p:nvSpPr>
          <p:spPr bwMode="auto">
            <a:xfrm>
              <a:off x="5012647" y="3162387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051383" y="5143812"/>
            <a:ext cx="1264256" cy="1283069"/>
            <a:chOff x="3051383" y="5143812"/>
            <a:chExt cx="1264256" cy="1283069"/>
          </a:xfrm>
        </p:grpSpPr>
        <p:pic>
          <p:nvPicPr>
            <p:cNvPr id="147" name="图片 146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51383" y="5143812"/>
              <a:ext cx="1264256" cy="1283069"/>
            </a:xfrm>
            <a:prstGeom prst="rect">
              <a:avLst/>
            </a:prstGeom>
          </p:spPr>
        </p:pic>
        <p:sp>
          <p:nvSpPr>
            <p:cNvPr id="149" name="Rectangle 30"/>
            <p:cNvSpPr>
              <a:spLocks noChangeArrowheads="1"/>
            </p:cNvSpPr>
            <p:nvPr/>
          </p:nvSpPr>
          <p:spPr bwMode="auto">
            <a:xfrm>
              <a:off x="3140867" y="5583292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059832" y="3214366"/>
            <a:ext cx="1264256" cy="1283069"/>
            <a:chOff x="3045058" y="3214366"/>
            <a:chExt cx="1264256" cy="1283069"/>
          </a:xfrm>
        </p:grpSpPr>
        <p:pic>
          <p:nvPicPr>
            <p:cNvPr id="154" name="图片 15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45058" y="3214366"/>
              <a:ext cx="1264256" cy="1283069"/>
            </a:xfrm>
            <a:prstGeom prst="rect">
              <a:avLst/>
            </a:prstGeom>
          </p:spPr>
        </p:pic>
        <p:sp>
          <p:nvSpPr>
            <p:cNvPr id="156" name="Rectangle 30"/>
            <p:cNvSpPr>
              <a:spLocks noChangeArrowheads="1"/>
            </p:cNvSpPr>
            <p:nvPr/>
          </p:nvSpPr>
          <p:spPr bwMode="auto">
            <a:xfrm>
              <a:off x="3134542" y="365384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Duration=6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51383" y="1830586"/>
            <a:ext cx="1264256" cy="1283069"/>
            <a:chOff x="3051383" y="1830586"/>
            <a:chExt cx="1264256" cy="1283069"/>
          </a:xfrm>
        </p:grpSpPr>
        <p:pic>
          <p:nvPicPr>
            <p:cNvPr id="161" name="图片 16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51383" y="1830586"/>
              <a:ext cx="1264256" cy="1283069"/>
            </a:xfrm>
            <a:prstGeom prst="rect">
              <a:avLst/>
            </a:prstGeom>
          </p:spPr>
        </p:pic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3140867" y="227006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Duration=7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48172" y="4515826"/>
            <a:ext cx="1264256" cy="1283069"/>
            <a:chOff x="1248172" y="4515826"/>
            <a:chExt cx="1264256" cy="1283069"/>
          </a:xfrm>
        </p:grpSpPr>
        <p:pic>
          <p:nvPicPr>
            <p:cNvPr id="168" name="图片 16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48172" y="4515826"/>
              <a:ext cx="1264256" cy="1283069"/>
            </a:xfrm>
            <a:prstGeom prst="rect">
              <a:avLst/>
            </a:prstGeom>
          </p:spPr>
        </p:pic>
        <p:sp>
          <p:nvSpPr>
            <p:cNvPr id="170" name="Rectangle 30"/>
            <p:cNvSpPr>
              <a:spLocks noChangeArrowheads="1"/>
            </p:cNvSpPr>
            <p:nvPr/>
          </p:nvSpPr>
          <p:spPr bwMode="auto">
            <a:xfrm>
              <a:off x="1337656" y="4955306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C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58998" y="2759294"/>
            <a:ext cx="1264256" cy="1283069"/>
            <a:chOff x="1258998" y="2759294"/>
            <a:chExt cx="1264256" cy="1283069"/>
          </a:xfrm>
        </p:grpSpPr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8998" y="2759294"/>
              <a:ext cx="1264256" cy="1283069"/>
            </a:xfrm>
            <a:prstGeom prst="rect">
              <a:avLst/>
            </a:prstGeom>
          </p:spPr>
        </p:pic>
        <p:sp>
          <p:nvSpPr>
            <p:cNvPr id="177" name="Rectangle 30"/>
            <p:cNvSpPr>
              <a:spLocks noChangeArrowheads="1"/>
            </p:cNvSpPr>
            <p:nvPr/>
          </p:nvSpPr>
          <p:spPr bwMode="auto">
            <a:xfrm>
              <a:off x="1348482" y="3198774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B</a:t>
              </a:r>
              <a:endPara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18289" y="1275315"/>
            <a:ext cx="1264256" cy="1283069"/>
            <a:chOff x="4918289" y="1275315"/>
            <a:chExt cx="1264256" cy="1283069"/>
          </a:xfrm>
        </p:grpSpPr>
        <p:pic>
          <p:nvPicPr>
            <p:cNvPr id="182" name="图片 18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8289" y="1275315"/>
              <a:ext cx="1264256" cy="1283069"/>
            </a:xfrm>
            <a:prstGeom prst="rect">
              <a:avLst/>
            </a:prstGeom>
          </p:spPr>
        </p:pic>
        <p:sp>
          <p:nvSpPr>
            <p:cNvPr id="184" name="Rectangle 30"/>
            <p:cNvSpPr>
              <a:spLocks noChangeArrowheads="1"/>
            </p:cNvSpPr>
            <p:nvPr/>
          </p:nvSpPr>
          <p:spPr bwMode="auto">
            <a:xfrm>
              <a:off x="5007773" y="1714795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715548" y="1671063"/>
            <a:ext cx="1264256" cy="1283069"/>
            <a:chOff x="6715548" y="1671063"/>
            <a:chExt cx="1264256" cy="1283069"/>
          </a:xfrm>
        </p:grpSpPr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1671063"/>
              <a:ext cx="1264256" cy="1283069"/>
            </a:xfrm>
            <a:prstGeom prst="rect">
              <a:avLst/>
            </a:prstGeom>
          </p:spPr>
        </p:pic>
        <p:sp>
          <p:nvSpPr>
            <p:cNvPr id="191" name="Rectangle 30"/>
            <p:cNvSpPr>
              <a:spLocks noChangeArrowheads="1"/>
            </p:cNvSpPr>
            <p:nvPr/>
          </p:nvSpPr>
          <p:spPr bwMode="auto">
            <a:xfrm>
              <a:off x="6805032" y="2110543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Duration=2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15548" y="4666211"/>
            <a:ext cx="1264256" cy="1283069"/>
            <a:chOff x="6715548" y="4666211"/>
            <a:chExt cx="1264256" cy="1283069"/>
          </a:xfrm>
        </p:grpSpPr>
        <p:pic>
          <p:nvPicPr>
            <p:cNvPr id="196" name="图片 19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15548" y="4666211"/>
              <a:ext cx="1264256" cy="1283069"/>
            </a:xfrm>
            <a:prstGeom prst="rect">
              <a:avLst/>
            </a:prstGeom>
          </p:spPr>
        </p:pic>
        <p:sp>
          <p:nvSpPr>
            <p:cNvPr id="198" name="Rectangle 30"/>
            <p:cNvSpPr>
              <a:spLocks noChangeArrowheads="1"/>
            </p:cNvSpPr>
            <p:nvPr/>
          </p:nvSpPr>
          <p:spPr bwMode="auto">
            <a:xfrm>
              <a:off x="6805032" y="5105691"/>
              <a:ext cx="1085288" cy="380059"/>
            </a:xfrm>
            <a:prstGeom prst="rect">
              <a:avLst/>
            </a:prstGeom>
            <a:solidFill>
              <a:srgbClr val="EAF0F6"/>
            </a:solidFill>
            <a:ln w="12700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Duration=1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Task </a:t>
              </a:r>
              <a:r>
                <a:rPr kumimoji="0" lang="en-US" altLang="zh-CN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113" name="Text Box 84"/>
          <p:cNvSpPr txBox="1">
            <a:spLocks noChangeArrowheads="1"/>
          </p:cNvSpPr>
          <p:nvPr/>
        </p:nvSpPr>
        <p:spPr bwMode="auto">
          <a:xfrm>
            <a:off x="2073946" y="142828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5" name="Text Box 84"/>
          <p:cNvSpPr txBox="1">
            <a:spLocks noChangeArrowheads="1"/>
          </p:cNvSpPr>
          <p:nvPr/>
        </p:nvSpPr>
        <p:spPr bwMode="auto">
          <a:xfrm>
            <a:off x="1290584" y="21445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Text Box 84"/>
          <p:cNvSpPr txBox="1">
            <a:spLocks noChangeArrowheads="1"/>
          </p:cNvSpPr>
          <p:nvPr/>
        </p:nvSpPr>
        <p:spPr bwMode="auto">
          <a:xfrm>
            <a:off x="2076923" y="21445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Text Box 84"/>
          <p:cNvSpPr txBox="1">
            <a:spLocks noChangeArrowheads="1"/>
          </p:cNvSpPr>
          <p:nvPr/>
        </p:nvSpPr>
        <p:spPr bwMode="auto">
          <a:xfrm>
            <a:off x="1285638" y="143209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52578" y="3161597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开始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31" name="流程图: 可选过程 130"/>
          <p:cNvSpPr/>
          <p:nvPr/>
        </p:nvSpPr>
        <p:spPr>
          <a:xfrm>
            <a:off x="8460432" y="2882959"/>
            <a:ext cx="638837" cy="378438"/>
          </a:xfrm>
          <a:prstGeom prst="flowChartAlternateProcess">
            <a:avLst/>
          </a:prstGeom>
          <a:solidFill>
            <a:srgbClr val="EAF0F6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结束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34" name="Text Box 84"/>
          <p:cNvSpPr txBox="1">
            <a:spLocks noChangeArrowheads="1"/>
          </p:cNvSpPr>
          <p:nvPr/>
        </p:nvSpPr>
        <p:spPr bwMode="auto">
          <a:xfrm>
            <a:off x="5733879" y="426804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Text Box 84"/>
          <p:cNvSpPr txBox="1">
            <a:spLocks noChangeArrowheads="1"/>
          </p:cNvSpPr>
          <p:nvPr/>
        </p:nvSpPr>
        <p:spPr bwMode="auto">
          <a:xfrm>
            <a:off x="4950517" y="49842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Text Box 84"/>
          <p:cNvSpPr txBox="1">
            <a:spLocks noChangeArrowheads="1"/>
          </p:cNvSpPr>
          <p:nvPr/>
        </p:nvSpPr>
        <p:spPr bwMode="auto">
          <a:xfrm>
            <a:off x="5736856" y="49842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Text Box 84"/>
          <p:cNvSpPr txBox="1">
            <a:spLocks noChangeArrowheads="1"/>
          </p:cNvSpPr>
          <p:nvPr/>
        </p:nvSpPr>
        <p:spPr bwMode="auto">
          <a:xfrm>
            <a:off x="4945571" y="427185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41" name="Text Box 84"/>
          <p:cNvSpPr txBox="1">
            <a:spLocks noChangeArrowheads="1"/>
          </p:cNvSpPr>
          <p:nvPr/>
        </p:nvSpPr>
        <p:spPr bwMode="auto">
          <a:xfrm>
            <a:off x="5738111" y="288243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Text Box 84"/>
          <p:cNvSpPr txBox="1">
            <a:spLocks noChangeArrowheads="1"/>
          </p:cNvSpPr>
          <p:nvPr/>
        </p:nvSpPr>
        <p:spPr bwMode="auto">
          <a:xfrm>
            <a:off x="4954749" y="359867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Text Box 84"/>
          <p:cNvSpPr txBox="1">
            <a:spLocks noChangeArrowheads="1"/>
          </p:cNvSpPr>
          <p:nvPr/>
        </p:nvSpPr>
        <p:spPr bwMode="auto">
          <a:xfrm>
            <a:off x="5741088" y="3598673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Text Box 84"/>
          <p:cNvSpPr txBox="1">
            <a:spLocks noChangeArrowheads="1"/>
          </p:cNvSpPr>
          <p:nvPr/>
        </p:nvSpPr>
        <p:spPr bwMode="auto">
          <a:xfrm>
            <a:off x="4949803" y="288624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Text Box 84"/>
          <p:cNvSpPr txBox="1">
            <a:spLocks noChangeArrowheads="1"/>
          </p:cNvSpPr>
          <p:nvPr/>
        </p:nvSpPr>
        <p:spPr bwMode="auto">
          <a:xfrm>
            <a:off x="3866331" y="530333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Text Box 84"/>
          <p:cNvSpPr txBox="1">
            <a:spLocks noChangeArrowheads="1"/>
          </p:cNvSpPr>
          <p:nvPr/>
        </p:nvSpPr>
        <p:spPr bwMode="auto">
          <a:xfrm>
            <a:off x="3082969" y="601957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Text Box 84"/>
          <p:cNvSpPr txBox="1">
            <a:spLocks noChangeArrowheads="1"/>
          </p:cNvSpPr>
          <p:nvPr/>
        </p:nvSpPr>
        <p:spPr bwMode="auto">
          <a:xfrm>
            <a:off x="3869308" y="601957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Text Box 84"/>
          <p:cNvSpPr txBox="1">
            <a:spLocks noChangeArrowheads="1"/>
          </p:cNvSpPr>
          <p:nvPr/>
        </p:nvSpPr>
        <p:spPr bwMode="auto">
          <a:xfrm>
            <a:off x="3078023" y="5307145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3860006" y="337388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Text Box 84"/>
          <p:cNvSpPr txBox="1">
            <a:spLocks noChangeArrowheads="1"/>
          </p:cNvSpPr>
          <p:nvPr/>
        </p:nvSpPr>
        <p:spPr bwMode="auto">
          <a:xfrm>
            <a:off x="3076644" y="409013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8" name="Text Box 84"/>
          <p:cNvSpPr txBox="1">
            <a:spLocks noChangeArrowheads="1"/>
          </p:cNvSpPr>
          <p:nvPr/>
        </p:nvSpPr>
        <p:spPr bwMode="auto">
          <a:xfrm>
            <a:off x="3862983" y="409013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Text Box 84"/>
          <p:cNvSpPr txBox="1">
            <a:spLocks noChangeArrowheads="1"/>
          </p:cNvSpPr>
          <p:nvPr/>
        </p:nvSpPr>
        <p:spPr bwMode="auto">
          <a:xfrm>
            <a:off x="3071698" y="337769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Text Box 84"/>
          <p:cNvSpPr txBox="1">
            <a:spLocks noChangeArrowheads="1"/>
          </p:cNvSpPr>
          <p:nvPr/>
        </p:nvSpPr>
        <p:spPr bwMode="auto">
          <a:xfrm>
            <a:off x="3866331" y="199010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Text Box 84"/>
          <p:cNvSpPr txBox="1">
            <a:spLocks noChangeArrowheads="1"/>
          </p:cNvSpPr>
          <p:nvPr/>
        </p:nvSpPr>
        <p:spPr bwMode="auto">
          <a:xfrm>
            <a:off x="3082969" y="270635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5" name="Text Box 84"/>
          <p:cNvSpPr txBox="1">
            <a:spLocks noChangeArrowheads="1"/>
          </p:cNvSpPr>
          <p:nvPr/>
        </p:nvSpPr>
        <p:spPr bwMode="auto">
          <a:xfrm>
            <a:off x="3869308" y="270635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Text Box 84"/>
          <p:cNvSpPr txBox="1">
            <a:spLocks noChangeArrowheads="1"/>
          </p:cNvSpPr>
          <p:nvPr/>
        </p:nvSpPr>
        <p:spPr bwMode="auto">
          <a:xfrm>
            <a:off x="3078023" y="199391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69" name="Text Box 84"/>
          <p:cNvSpPr txBox="1">
            <a:spLocks noChangeArrowheads="1"/>
          </p:cNvSpPr>
          <p:nvPr/>
        </p:nvSpPr>
        <p:spPr bwMode="auto">
          <a:xfrm>
            <a:off x="2063120" y="467534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1" name="Text Box 84"/>
          <p:cNvSpPr txBox="1">
            <a:spLocks noChangeArrowheads="1"/>
          </p:cNvSpPr>
          <p:nvPr/>
        </p:nvSpPr>
        <p:spPr bwMode="auto">
          <a:xfrm>
            <a:off x="1279758" y="53915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2" name="Text Box 84"/>
          <p:cNvSpPr txBox="1">
            <a:spLocks noChangeArrowheads="1"/>
          </p:cNvSpPr>
          <p:nvPr/>
        </p:nvSpPr>
        <p:spPr bwMode="auto">
          <a:xfrm>
            <a:off x="2066097" y="5391592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Text Box 84"/>
          <p:cNvSpPr txBox="1">
            <a:spLocks noChangeArrowheads="1"/>
          </p:cNvSpPr>
          <p:nvPr/>
        </p:nvSpPr>
        <p:spPr bwMode="auto">
          <a:xfrm>
            <a:off x="1274812" y="467915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6" name="Text Box 84"/>
          <p:cNvSpPr txBox="1">
            <a:spLocks noChangeArrowheads="1"/>
          </p:cNvSpPr>
          <p:nvPr/>
        </p:nvSpPr>
        <p:spPr bwMode="auto">
          <a:xfrm>
            <a:off x="2073946" y="291881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Text Box 84"/>
          <p:cNvSpPr txBox="1">
            <a:spLocks noChangeArrowheads="1"/>
          </p:cNvSpPr>
          <p:nvPr/>
        </p:nvSpPr>
        <p:spPr bwMode="auto">
          <a:xfrm>
            <a:off x="1290584" y="363506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9" name="Text Box 84"/>
          <p:cNvSpPr txBox="1">
            <a:spLocks noChangeArrowheads="1"/>
          </p:cNvSpPr>
          <p:nvPr/>
        </p:nvSpPr>
        <p:spPr bwMode="auto">
          <a:xfrm>
            <a:off x="2076923" y="3635060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Text Box 84"/>
          <p:cNvSpPr txBox="1">
            <a:spLocks noChangeArrowheads="1"/>
          </p:cNvSpPr>
          <p:nvPr/>
        </p:nvSpPr>
        <p:spPr bwMode="auto">
          <a:xfrm>
            <a:off x="1285638" y="292262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Text Box 84"/>
          <p:cNvSpPr txBox="1">
            <a:spLocks noChangeArrowheads="1"/>
          </p:cNvSpPr>
          <p:nvPr/>
        </p:nvSpPr>
        <p:spPr bwMode="auto">
          <a:xfrm>
            <a:off x="5733237" y="143483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5" name="Text Box 84"/>
          <p:cNvSpPr txBox="1">
            <a:spLocks noChangeArrowheads="1"/>
          </p:cNvSpPr>
          <p:nvPr/>
        </p:nvSpPr>
        <p:spPr bwMode="auto">
          <a:xfrm>
            <a:off x="4949875" y="21510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6" name="Text Box 84"/>
          <p:cNvSpPr txBox="1">
            <a:spLocks noChangeArrowheads="1"/>
          </p:cNvSpPr>
          <p:nvPr/>
        </p:nvSpPr>
        <p:spPr bwMode="auto">
          <a:xfrm>
            <a:off x="5736214" y="2151081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Text Box 84"/>
          <p:cNvSpPr txBox="1">
            <a:spLocks noChangeArrowheads="1"/>
          </p:cNvSpPr>
          <p:nvPr/>
        </p:nvSpPr>
        <p:spPr bwMode="auto">
          <a:xfrm>
            <a:off x="4944929" y="1438648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0" name="Text Box 84"/>
          <p:cNvSpPr txBox="1">
            <a:spLocks noChangeArrowheads="1"/>
          </p:cNvSpPr>
          <p:nvPr/>
        </p:nvSpPr>
        <p:spPr bwMode="auto">
          <a:xfrm>
            <a:off x="7530496" y="183058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Text Box 84"/>
          <p:cNvSpPr txBox="1">
            <a:spLocks noChangeArrowheads="1"/>
          </p:cNvSpPr>
          <p:nvPr/>
        </p:nvSpPr>
        <p:spPr bwMode="auto">
          <a:xfrm>
            <a:off x="6747134" y="254682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Text Box 84"/>
          <p:cNvSpPr txBox="1">
            <a:spLocks noChangeArrowheads="1"/>
          </p:cNvSpPr>
          <p:nvPr/>
        </p:nvSpPr>
        <p:spPr bwMode="auto">
          <a:xfrm>
            <a:off x="7533473" y="2546829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" name="Text Box 84"/>
          <p:cNvSpPr txBox="1">
            <a:spLocks noChangeArrowheads="1"/>
          </p:cNvSpPr>
          <p:nvPr/>
        </p:nvSpPr>
        <p:spPr bwMode="auto">
          <a:xfrm>
            <a:off x="6742188" y="1834396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" name="Text Box 84"/>
          <p:cNvSpPr txBox="1">
            <a:spLocks noChangeArrowheads="1"/>
          </p:cNvSpPr>
          <p:nvPr/>
        </p:nvSpPr>
        <p:spPr bwMode="auto">
          <a:xfrm>
            <a:off x="7530496" y="482573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" name="Text Box 84"/>
          <p:cNvSpPr txBox="1">
            <a:spLocks noChangeArrowheads="1"/>
          </p:cNvSpPr>
          <p:nvPr/>
        </p:nvSpPr>
        <p:spPr bwMode="auto">
          <a:xfrm>
            <a:off x="6747134" y="554197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Text Box 84"/>
          <p:cNvSpPr txBox="1">
            <a:spLocks noChangeArrowheads="1"/>
          </p:cNvSpPr>
          <p:nvPr/>
        </p:nvSpPr>
        <p:spPr bwMode="auto">
          <a:xfrm>
            <a:off x="7533473" y="5541977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1" name="Text Box 84"/>
          <p:cNvSpPr txBox="1">
            <a:spLocks noChangeArrowheads="1"/>
          </p:cNvSpPr>
          <p:nvPr/>
        </p:nvSpPr>
        <p:spPr bwMode="auto">
          <a:xfrm>
            <a:off x="6742188" y="4829544"/>
            <a:ext cx="421315" cy="2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Text Box 3163"/>
          <p:cNvSpPr txBox="1">
            <a:spLocks noChangeArrowheads="1"/>
          </p:cNvSpPr>
          <p:nvPr/>
        </p:nvSpPr>
        <p:spPr bwMode="auto">
          <a:xfrm>
            <a:off x="5868144" y="6015073"/>
            <a:ext cx="300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 Box 3164"/>
          <p:cNvSpPr txBox="1">
            <a:spLocks noChangeArrowheads="1"/>
          </p:cNvSpPr>
          <p:nvPr/>
        </p:nvSpPr>
        <p:spPr bwMode="auto">
          <a:xfrm>
            <a:off x="5868145" y="6422502"/>
            <a:ext cx="3001962" cy="47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历时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=18-1=17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 Box 84"/>
          <p:cNvSpPr txBox="1">
            <a:spLocks noChangeArrowheads="1"/>
          </p:cNvSpPr>
          <p:nvPr/>
        </p:nvSpPr>
        <p:spPr bwMode="auto">
          <a:xfrm>
            <a:off x="3951557" y="449046"/>
            <a:ext cx="5168632" cy="892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 H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可以在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完成时间提前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个时间单位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Task K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需要滞后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个时间单位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8" name="Text Box 84"/>
          <p:cNvSpPr txBox="1">
            <a:spLocks noChangeArrowheads="1"/>
          </p:cNvSpPr>
          <p:nvPr/>
        </p:nvSpPr>
        <p:spPr bwMode="auto">
          <a:xfrm rot="3063484">
            <a:off x="4269092" y="4412418"/>
            <a:ext cx="691191" cy="16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Lend=-3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Text Box 84"/>
          <p:cNvSpPr txBox="1">
            <a:spLocks noChangeArrowheads="1"/>
          </p:cNvSpPr>
          <p:nvPr/>
        </p:nvSpPr>
        <p:spPr bwMode="auto">
          <a:xfrm rot="17840269">
            <a:off x="6114704" y="2982438"/>
            <a:ext cx="691191" cy="16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0" bIns="0" anchor="ctr" anchorCtr="0">
            <a:no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Lag=2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Text Box 3163"/>
          <p:cNvSpPr txBox="1">
            <a:spLocks noChangeArrowheads="1"/>
          </p:cNvSpPr>
          <p:nvPr/>
        </p:nvSpPr>
        <p:spPr bwMode="auto">
          <a:xfrm>
            <a:off x="213326" y="6030094"/>
            <a:ext cx="3001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广度优先遍历计算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标题 1"/>
          <p:cNvSpPr txBox="1">
            <a:spLocks/>
          </p:cNvSpPr>
          <p:nvPr/>
        </p:nvSpPr>
        <p:spPr>
          <a:xfrm>
            <a:off x="216024" y="598240"/>
            <a:ext cx="8820472" cy="5985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Book Antiqua" panose="02040602050305030304" pitchFamily="18" charset="0"/>
                <a:ea typeface="楷体_GB2312" pitchFamily="49" charset="-122"/>
                <a:cs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增加</a:t>
            </a:r>
            <a:r>
              <a:rPr kumimoji="1" lang="en-US" altLang="zh-CN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1</a:t>
            </a:r>
            <a:r>
              <a:rPr kumimoji="1" lang="zh-CN" altLang="en-US" sz="2800" b="1" dirty="0">
                <a:solidFill>
                  <a:srgbClr val="C00000"/>
                </a:solidFill>
                <a:latin typeface="Verdana"/>
                <a:ea typeface="微软雅黑"/>
                <a:cs typeface="微软雅黑" panose="020B0503020204020204" charset="-122"/>
              </a:rPr>
              <a:t>个练习题</a:t>
            </a:r>
            <a:endParaRPr kumimoji="1" lang="en-US" altLang="zh-CN" sz="2400" b="1" dirty="0">
              <a:solidFill>
                <a:srgbClr val="C00000"/>
              </a:solidFill>
              <a:latin typeface="Verdana"/>
              <a:ea typeface="微软雅黑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197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8"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750"/>
                            </p:stCondLst>
                            <p:childTnLst>
                              <p:par>
                                <p:cTn id="5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2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1500"/>
                            </p:stCondLst>
                            <p:childTnLst>
                              <p:par>
                                <p:cTn id="5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6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2250"/>
                            </p:stCondLst>
                            <p:childTnLst>
                              <p:par>
                                <p:cTn id="5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0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3000"/>
                            </p:stCondLst>
                            <p:childTnLst>
                              <p:par>
                                <p:cTn id="5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02" grpId="0" animBg="1"/>
      <p:bldP spid="101" grpId="0" animBg="1"/>
      <p:bldP spid="103" grpId="0" animBg="1"/>
      <p:bldP spid="104" grpId="0" animBg="1"/>
      <p:bldP spid="113" grpId="0"/>
      <p:bldP spid="125" grpId="0"/>
      <p:bldP spid="126" grpId="0"/>
      <p:bldP spid="127" grpId="0"/>
      <p:bldP spid="134" grpId="0"/>
      <p:bldP spid="136" grpId="0"/>
      <p:bldP spid="137" grpId="0"/>
      <p:bldP spid="138" grpId="0"/>
      <p:bldP spid="141" grpId="0"/>
      <p:bldP spid="143" grpId="0"/>
      <p:bldP spid="144" grpId="0"/>
      <p:bldP spid="145" grpId="0"/>
      <p:bldP spid="148" grpId="0"/>
      <p:bldP spid="150" grpId="0"/>
      <p:bldP spid="151" grpId="0"/>
      <p:bldP spid="152" grpId="0"/>
      <p:bldP spid="155" grpId="0"/>
      <p:bldP spid="157" grpId="0"/>
      <p:bldP spid="158" grpId="0"/>
      <p:bldP spid="159" grpId="0"/>
      <p:bldP spid="162" grpId="0"/>
      <p:bldP spid="164" grpId="0"/>
      <p:bldP spid="165" grpId="0"/>
      <p:bldP spid="166" grpId="0"/>
      <p:bldP spid="169" grpId="0"/>
      <p:bldP spid="171" grpId="0"/>
      <p:bldP spid="172" grpId="0"/>
      <p:bldP spid="173" grpId="0"/>
      <p:bldP spid="176" grpId="0"/>
      <p:bldP spid="178" grpId="0"/>
      <p:bldP spid="179" grpId="0"/>
      <p:bldP spid="180" grpId="0"/>
      <p:bldP spid="183" grpId="0"/>
      <p:bldP spid="185" grpId="0"/>
      <p:bldP spid="186" grpId="0"/>
      <p:bldP spid="187" grpId="0"/>
      <p:bldP spid="190" grpId="0"/>
      <p:bldP spid="192" grpId="0"/>
      <p:bldP spid="193" grpId="0"/>
      <p:bldP spid="194" grpId="0"/>
      <p:bldP spid="197" grpId="0"/>
      <p:bldP spid="199" grpId="0"/>
      <p:bldP spid="200" grpId="0"/>
      <p:bldP spid="201" grpId="0"/>
      <p:bldP spid="105" grpId="0"/>
      <p:bldP spid="106" grpId="0"/>
      <p:bldP spid="1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0|3.2|8|2.1|9.5|17.3|3.4|16.3|68.7|0.8|17.2|13.2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3|14.5|2.6|7.3|2|7.3|1.8|14.6|1.4|33.4|1.3|16|1|53.3|3.3|68.5|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1.3|14.5|2.6|7.3|2|7.3|1.8|14.6|1.4|33.4|1.3|16|1|53.3|3.3|68.5|4.8"/>
</p:tagLst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Book Antiqua"/>
        <a:ea typeface="楷体_GB2312"/>
        <a:cs typeface="宋体"/>
      </a:majorFont>
      <a:minorFont>
        <a:latin typeface="Book Antiqu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5091</TotalTime>
  <Words>851</Words>
  <Application>Microsoft Office PowerPoint</Application>
  <PresentationFormat>全屏显示(4:3)</PresentationFormat>
  <Paragraphs>502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华文仿宋</vt:lpstr>
      <vt:lpstr>华文行楷</vt:lpstr>
      <vt:lpstr>楷体</vt:lpstr>
      <vt:lpstr>楷体_GB2312</vt:lpstr>
      <vt:lpstr>宋体</vt:lpstr>
      <vt:lpstr>微软雅黑</vt:lpstr>
      <vt:lpstr>Arial</vt:lpstr>
      <vt:lpstr>Arial Narrow</vt:lpstr>
      <vt:lpstr>Book Antiqua</vt:lpstr>
      <vt:lpstr>Times New Roman</vt:lpstr>
      <vt:lpstr>Verdana</vt:lpstr>
      <vt:lpstr>Wingdings</vt:lpstr>
      <vt:lpstr>1_CITRUS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 第一章 软件工程概论 1-1 软件工程概论</dc:title>
  <dc:creator>hitfgx</dc:creator>
  <cp:lastModifiedBy>aaaa</cp:lastModifiedBy>
  <cp:revision>338</cp:revision>
  <dcterms:modified xsi:type="dcterms:W3CDTF">2024-05-28T16:30:59Z</dcterms:modified>
</cp:coreProperties>
</file>